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/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1" snapToObjects="1" showGuides="1"/>
  </p:slideViewPr>
  <p:notesTextViewPr/>
  <p:gridSpacing cx="780288" cy="78028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50" Type="http://schemas.openxmlformats.org/officeDocument/2006/relationships/presProps" Target="presProps.xml"/><Relationship Id="rId51" Type="http://schemas.openxmlformats.org/officeDocument/2006/relationships/viewProps" Target="view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00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PPO + ParkourMoE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PPO算法介绍与本仓库中的实际落地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80000" y="1780000"/>
            <a:ext cx="10500000" cy="15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内容来源分成三部分：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1. PPO 论文与 OpenAI 发布页，用于背景和基本思想。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2. 本仓库 rsl_rl 的 PPO / ActorCritic 实现，用于网络结构与实现细节。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3. parkour_moe 的训练配置与 ZApr19_16-24-31_GOOD TensorBoard 日志，用于应用与性能曲线。</a:t>
            </a:r>
            <a:endParaRPr lang="zh-CN" sz="1800"/>
          </a:p>
        </p:txBody>
      </p:sp>
      <p:sp>
        <p:nvSpPr>
          <p:cNvPr id="6" name="box"/>
          <p:cNvSpPr txBox="1"/>
          <p:nvPr/>
        </p:nvSpPr>
        <p:spPr>
          <a:xfrm>
            <a:off x="780000" y="3700000"/>
            <a:ext cx="3050000" cy="112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1F2937"/>
                </a:solidFill>
              </a:rPr>
              <a:t>PPO 论文侧重点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稳定更新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一阶优化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多轮 mini-batch</a:t>
            </a:r>
            <a:endParaRPr lang="zh-CN" sz="1800"/>
          </a:p>
        </p:txBody>
      </p:sp>
      <p:sp>
        <p:nvSpPr>
          <p:cNvPr id="7" name="box"/>
          <p:cNvSpPr txBox="1"/>
          <p:nvPr/>
        </p:nvSpPr>
        <p:spPr>
          <a:xfrm>
            <a:off x="4080000" y="3700000"/>
            <a:ext cx="3050000" cy="112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1F2937"/>
                </a:solidFill>
              </a:rPr>
              <a:t>rsl_rl 实现侧重点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Actor-Critic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GAE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clip/value/entropy</a:t>
            </a:r>
            <a:endParaRPr lang="zh-CN" sz="1800"/>
          </a:p>
        </p:txBody>
      </p:sp>
      <p:sp>
        <p:nvSpPr>
          <p:cNvPr id="8" name="box"/>
          <p:cNvSpPr txBox="1"/>
          <p:nvPr/>
        </p:nvSpPr>
        <p:spPr>
          <a:xfrm>
            <a:off x="7380000" y="3700000"/>
            <a:ext cx="3050000" cy="112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1F2937"/>
                </a:solidFill>
              </a:rPr>
              <a:t>parkour_moe 侧重点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多模态估计器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terrain-aware MoE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真实训练曲线</a:t>
            </a:r>
            <a:endParaRPr lang="zh-CN" sz="1800"/>
          </a:p>
        </p:txBody>
      </p:sp>
      <p:sp>
        <p:nvSpPr>
          <p:cNvPr id="9" name="box"/>
          <p:cNvSpPr txBox="1"/>
          <p:nvPr/>
        </p:nvSpPr>
        <p:spPr>
          <a:xfrm>
            <a:off x="1280000" y="5230000"/>
            <a:ext cx="9460000" cy="62000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50" b="1">
                <a:solidFill>
                  <a:srgbClr val="1F2937"/>
                </a:solidFill>
              </a:rPr>
              <a:t>一句话：PPO 是这套 Go2 parkour 系统的优化骨架，估计器与 MoE 则决定了任务上限。</a:t>
            </a:r>
            <a:endParaRPr lang="zh-CN" sz="1750"/>
          </a:p>
        </p:txBody>
      </p:sp>
      <p:sp>
        <p:nvSpPr>
          <p:cNvPr id="10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参考：Schulman et al. 2017；OpenAI Baselines PPO；rsl_rl 与 parkour_moe 当前代码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1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1. 算法背景介绍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PPO 的出发点：在不牺牲稳定性的前提下，把 trust-region 思想做成更易用的工程算法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3270000" cy="303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普通 policy gradient / actor-critic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更新步长过大时容易崩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样本方差高，调参敏感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想重复利用 rollout 时更不稳定</a:t>
            </a:r>
            <a:endParaRPr lang="zh-CN" sz="1800"/>
          </a:p>
        </p:txBody>
      </p:sp>
      <p:sp>
        <p:nvSpPr>
          <p:cNvPr id="6" name="box"/>
          <p:cNvSpPr txBox="1"/>
          <p:nvPr/>
        </p:nvSpPr>
        <p:spPr>
          <a:xfrm>
            <a:off x="4450000" y="1760000"/>
            <a:ext cx="3270000" cy="303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TRPO 的启发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用 trust region 约束策略漂移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训练更稳定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但实现需要更复杂的二阶近似</a:t>
            </a:r>
            <a:endParaRPr lang="zh-CN" sz="1800"/>
          </a:p>
        </p:txBody>
      </p:sp>
      <p:sp>
        <p:nvSpPr>
          <p:cNvPr id="7" name="box"/>
          <p:cNvSpPr txBox="1"/>
          <p:nvPr/>
        </p:nvSpPr>
        <p:spPr>
          <a:xfrm>
            <a:off x="8180000" y="1760000"/>
            <a:ext cx="3280000" cy="303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PPO 的目标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保留“不要走太远”的思想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改成易实现的一阶优化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允许对同一批样本做多轮 mini-batch 更新</a:t>
            </a:r>
            <a:endParaRPr lang="zh-CN" sz="1800"/>
          </a:p>
        </p:txBody>
      </p:sp>
      <p:sp>
        <p:nvSpPr>
          <p:cNvPr id="8" name="box"/>
          <p:cNvSpPr txBox="1"/>
          <p:nvPr/>
        </p:nvSpPr>
        <p:spPr>
          <a:xfrm>
            <a:off x="720000" y="5130000"/>
            <a:ext cx="10740000" cy="65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50" b="1">
                <a:solidFill>
                  <a:srgbClr val="1F2937"/>
                </a:solidFill>
              </a:rPr>
              <a:t>因此，PPO 的核心不是“求最优闭式解”，而是“让策略每次别走太远，但还能高效地一阶优化”。</a:t>
            </a:r>
            <a:endParaRPr lang="zh-CN" sz="1750"/>
          </a:p>
        </p:txBody>
      </p:sp>
      <p:sp>
        <p:nvSpPr>
          <p:cNvPr id="9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参考：PPO 论文摘要与 OpenAI PPO 发布页对 clipped surrogate 的解释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2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2.1 算法基本思想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从 policy gradient 到 PPO：关键是把“新旧策略差异”显式写进目标函数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5150000" cy="13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680">
                <a:solidFill>
                  <a:srgbClr val="1F2937"/>
                </a:solidFill>
              </a:rPr>
              <a:t>概率比率</a:t>
            </a:r>
            <a:endParaRPr lang="zh-CN" sz="1680"/>
          </a:p>
          <a:p>
            <a:pPr algn="l"/>
            <a:r>
              <a:rPr lang="zh-CN" sz="1680">
                <a:solidFill>
                  <a:srgbClr val="1F2937"/>
                </a:solidFill>
              </a:rPr>
              <a:t>r_t(theta) = pi_theta(a_t|s_t) / pi_theta_old(a_t|s_t)</a:t>
            </a:r>
            <a:endParaRPr lang="zh-CN" sz="1680"/>
          </a:p>
          <a:p>
            <a:pPr algn="l"/>
            <a:r>
              <a:rPr lang="zh-CN" sz="1680">
                <a:solidFill>
                  <a:srgbClr val="1F2937"/>
                </a:solidFill>
              </a:rPr>
              <a:t>它表示同一个动作在“新策略”与“旧策略”下的相对偏好变化。</a:t>
            </a:r>
            <a:endParaRPr lang="zh-CN" sz="1680"/>
          </a:p>
        </p:txBody>
      </p:sp>
      <p:sp>
        <p:nvSpPr>
          <p:cNvPr id="6" name="box"/>
          <p:cNvSpPr txBox="1"/>
          <p:nvPr/>
        </p:nvSpPr>
        <p:spPr>
          <a:xfrm>
            <a:off x="6180000" y="1760000"/>
            <a:ext cx="5250000" cy="132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680">
                <a:solidFill>
                  <a:srgbClr val="1F2937"/>
                </a:solidFill>
              </a:rPr>
              <a:t>未加约束的 surrogate</a:t>
            </a:r>
            <a:endParaRPr lang="zh-CN" sz="1680"/>
          </a:p>
          <a:p>
            <a:pPr algn="l"/>
            <a:r>
              <a:rPr lang="zh-CN" sz="1680">
                <a:solidFill>
                  <a:srgbClr val="1F2937"/>
                </a:solidFill>
              </a:rPr>
              <a:t>L^CPI(theta) = E_t[ r_t(theta) * A_t ]</a:t>
            </a:r>
            <a:endParaRPr lang="zh-CN" sz="1680"/>
          </a:p>
          <a:p>
            <a:pPr algn="l"/>
            <a:r>
              <a:rPr lang="zh-CN" sz="1680">
                <a:solidFill>
                  <a:srgbClr val="1F2937"/>
                </a:solidFill>
              </a:rPr>
              <a:t>如果 A_t &gt; 0，希望提高该动作概率；如果 A_t &lt; 0，希望降低它。</a:t>
            </a:r>
            <a:endParaRPr lang="zh-CN" sz="1680"/>
          </a:p>
        </p:txBody>
      </p:sp>
      <p:sp>
        <p:nvSpPr>
          <p:cNvPr id="7" name="box"/>
          <p:cNvSpPr txBox="1"/>
          <p:nvPr/>
        </p:nvSpPr>
        <p:spPr>
          <a:xfrm>
            <a:off x="720000" y="3450000"/>
            <a:ext cx="3260000" cy="162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为什么还不够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当 r_t 偏离 1 太多时，单次更新会过猛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好动作可能被过度放大，坏动作可能被过度压缩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连续控制里这会直接表现为训练震荡或性能塌陷</a:t>
            </a:r>
            <a:endParaRPr lang="zh-CN" sz="1800"/>
          </a:p>
        </p:txBody>
      </p:sp>
      <p:sp>
        <p:nvSpPr>
          <p:cNvPr id="8" name="box"/>
          <p:cNvSpPr txBox="1"/>
          <p:nvPr/>
        </p:nvSpPr>
        <p:spPr>
          <a:xfrm>
            <a:off x="4320000" y="3450000"/>
            <a:ext cx="2050000" cy="162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1F2937"/>
                </a:solidFill>
              </a:rPr>
              <a:t>直观理解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A_t &gt; 0 : 该动作比基线更好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A_t &lt; 0 : 该动作比基线更差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r_t &gt; 1 : 新策略更偏爱它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r_t &lt; 1 : 新策略更不偏爱它</a:t>
            </a:r>
            <a:endParaRPr lang="zh-CN" sz="1800"/>
          </a:p>
        </p:txBody>
      </p:sp>
      <p:sp>
        <p:nvSpPr>
          <p:cNvPr id="9" name="box"/>
          <p:cNvSpPr txBox="1"/>
          <p:nvPr/>
        </p:nvSpPr>
        <p:spPr>
          <a:xfrm>
            <a:off x="6850000" y="3450000"/>
            <a:ext cx="4610000" cy="162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650">
                <a:solidFill>
                  <a:srgbClr val="1F2937"/>
                </a:solidFill>
              </a:rPr>
              <a:t>PPO 的关键转折</a:t>
            </a:r>
            <a:endParaRPr lang="zh-CN" sz="1650"/>
          </a:p>
          <a:p>
            <a:pPr algn="l"/>
            <a:r>
              <a:rPr lang="zh-CN" sz="1650">
                <a:solidFill>
                  <a:srgbClr val="1F2937"/>
                </a:solidFill>
              </a:rPr>
              <a:t>不是直接最大化 r_t * A_t，</a:t>
            </a:r>
            <a:endParaRPr lang="zh-CN" sz="1650"/>
          </a:p>
          <a:p>
            <a:pPr algn="l"/>
            <a:r>
              <a:rPr lang="zh-CN" sz="1650">
                <a:solidFill>
                  <a:srgbClr val="1F2937"/>
                </a:solidFill>
              </a:rPr>
              <a:t>而是在“偏离过大”的区域里截断继续获利的空间。</a:t>
            </a:r>
            <a:endParaRPr lang="zh-CN" sz="1650"/>
          </a:p>
          <a:p>
            <a:pPr algn="l"/>
            <a:r>
              <a:rPr lang="zh-CN" sz="1650">
                <a:solidFill>
                  <a:srgbClr val="1F2937"/>
                </a:solidFill>
              </a:rPr>
              <a:t>这一步把“稳定性”直接写进了目标函数。</a:t>
            </a:r>
            <a:endParaRPr lang="zh-CN" sz="1650"/>
          </a:p>
        </p:txBody>
      </p:sp>
      <p:sp>
        <p:nvSpPr>
          <p:cNvPr id="10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这一页对应 PPO 论文里从 surrogate objective 走向 clipped surrogate 的动机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3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2.2 算法基本思想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最重要的公式：clipped surrogate 如何限制策略更新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30000"/>
            <a:ext cx="10740000" cy="11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20" b="1">
                <a:solidFill>
                  <a:srgbClr val="1F2937"/>
                </a:solidFill>
              </a:rPr>
              <a:t>L^CLIP(theta) = E_t [ min( r_t(theta) * A_t, clip(r_t(theta), 1-eps, 1+eps) * A_t ) ]</a:t>
            </a:r>
            <a:endParaRPr lang="zh-CN" sz="1620"/>
          </a:p>
        </p:txBody>
      </p:sp>
      <p:sp>
        <p:nvSpPr>
          <p:cNvPr id="6" name="box"/>
          <p:cNvSpPr txBox="1"/>
          <p:nvPr/>
        </p:nvSpPr>
        <p:spPr>
          <a:xfrm>
            <a:off x="720000" y="3150000"/>
            <a:ext cx="3270000" cy="220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当 A_t &gt; 0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希望提高动作概率。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但若 r_t &gt; 1 + eps，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clip 后收益被截住。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也就是：好动作可以多鼓励，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但不能无限制猛增。</a:t>
            </a:r>
            <a:endParaRPr lang="zh-CN" sz="1800"/>
          </a:p>
        </p:txBody>
      </p:sp>
      <p:sp>
        <p:nvSpPr>
          <p:cNvPr id="7" name="box"/>
          <p:cNvSpPr txBox="1"/>
          <p:nvPr/>
        </p:nvSpPr>
        <p:spPr>
          <a:xfrm>
            <a:off x="4460000" y="3150000"/>
            <a:ext cx="3270000" cy="220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当 A_t &lt; 0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希望降低动作概率。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但若 r_t &lt; 1 - eps，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clip 后惩罚也被截住。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也就是：坏动作可以压制，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但不能一步压得过头。</a:t>
            </a:r>
            <a:endParaRPr lang="zh-CN" sz="1800"/>
          </a:p>
        </p:txBody>
      </p:sp>
      <p:sp>
        <p:nvSpPr>
          <p:cNvPr id="8" name="box"/>
          <p:cNvSpPr txBox="1"/>
          <p:nvPr/>
        </p:nvSpPr>
        <p:spPr>
          <a:xfrm>
            <a:off x="8200000" y="3150000"/>
            <a:ext cx="3260000" cy="220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为什么用 min()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PPO 选择“更保守”的那一项。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一旦 ratio 超出可信区间，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目标值就不再继续奖励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更大的策略漂移。</a:t>
            </a:r>
            <a:endParaRPr lang="zh-CN" sz="1800"/>
          </a:p>
        </p:txBody>
      </p:sp>
      <p:sp>
        <p:nvSpPr>
          <p:cNvPr id="9" name="box"/>
          <p:cNvSpPr txBox="1"/>
          <p:nvPr/>
        </p:nvSpPr>
        <p:spPr>
          <a:xfrm>
            <a:off x="1260000" y="5680000"/>
            <a:ext cx="9280000" cy="52000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500" b="1">
                <a:solidFill>
                  <a:srgbClr val="1F2937"/>
                </a:solidFill>
              </a:rPr>
              <a:t>一句话记忆：PPO 不是硬约束参数更新，而是让“超出安全区的更新”失去继续变大的收益。</a:t>
            </a:r>
            <a:endParaRPr lang="zh-CN" sz="1500"/>
          </a:p>
        </p:txBody>
      </p:sp>
      <p:sp>
        <p:nvSpPr>
          <p:cNvPr id="10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对应公式：PPO 论文的 clipped surrogate objective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4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2.3 算法基本思想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优势、回报与完整损失：PPO 不是只有一个 clip 项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3260000" cy="198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80">
                <a:solidFill>
                  <a:srgbClr val="1F2937"/>
                </a:solidFill>
              </a:rPr>
              <a:t>TD 残差</a:t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>delta_t = r_t + gamma * V(s_{t+1}) - V(s_t)</a:t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/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>GAE</a:t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>A_hat_t = sum_l (gamma * lambda)^l * delta_{t+l}</a:t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/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>Return</a:t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>R_hat_t = A_hat_t + V(s_t)</a:t>
            </a:r>
            <a:endParaRPr lang="zh-CN" sz="1480"/>
          </a:p>
        </p:txBody>
      </p:sp>
      <p:sp>
        <p:nvSpPr>
          <p:cNvPr id="6" name="box"/>
          <p:cNvSpPr txBox="1"/>
          <p:nvPr/>
        </p:nvSpPr>
        <p:spPr>
          <a:xfrm>
            <a:off x="3520000" y="1760000"/>
            <a:ext cx="3330000" cy="198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50">
                <a:solidFill>
                  <a:srgbClr val="1F2937"/>
                </a:solidFill>
              </a:rPr>
              <a:t>值函数损失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V_clip = V_old + clip(V_theta - V_old, -eps, eps)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L_VF = max( (V_theta - R_hat)^2, (V_clip - R_hat)^2 )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/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代码对应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value_clipped = target_values + clamp(value - target_values)</a:t>
            </a:r>
            <a:endParaRPr lang="zh-CN" sz="1450"/>
          </a:p>
        </p:txBody>
      </p:sp>
      <p:sp>
        <p:nvSpPr>
          <p:cNvPr id="7" name="box"/>
          <p:cNvSpPr txBox="1"/>
          <p:nvPr/>
        </p:nvSpPr>
        <p:spPr>
          <a:xfrm>
            <a:off x="6320000" y="1760000"/>
            <a:ext cx="2650000" cy="198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80">
                <a:solidFill>
                  <a:srgbClr val="1F2937"/>
                </a:solidFill>
              </a:rPr>
              <a:t>熵正则</a:t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>H[pi_theta](s_t)</a:t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>鼓励策略保留随机性，避免过早塌缩</a:t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/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>代码里</a:t>
            </a:r>
            <a:endParaRPr lang="zh-CN" sz="1480"/>
          </a:p>
          <a:p>
            <a:pPr algn="l"/>
            <a:r>
              <a:rPr lang="zh-CN" sz="1480">
                <a:solidFill>
                  <a:srgbClr val="1F2937"/>
                </a:solidFill>
              </a:rPr>
              <a:t>loss = surrogate + c_v * value - c_e * entropy</a:t>
            </a:r>
            <a:endParaRPr lang="zh-CN" sz="1480"/>
          </a:p>
        </p:txBody>
      </p:sp>
      <p:sp>
        <p:nvSpPr>
          <p:cNvPr id="8" name="box"/>
          <p:cNvSpPr txBox="1"/>
          <p:nvPr/>
        </p:nvSpPr>
        <p:spPr>
          <a:xfrm>
            <a:off x="9270000" y="1760000"/>
            <a:ext cx="2190000" cy="198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50">
                <a:solidFill>
                  <a:srgbClr val="1F2937"/>
                </a:solidFill>
              </a:rPr>
              <a:t>优势标准化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A_hat &lt;- (A_hat - mean) / (std + 1e-8)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/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作用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让不同 batch 的尺度更稳定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减小优化震荡</a:t>
            </a:r>
            <a:endParaRPr lang="zh-CN" sz="1450"/>
          </a:p>
        </p:txBody>
      </p:sp>
      <p:sp>
        <p:nvSpPr>
          <p:cNvPr id="9" name="box"/>
          <p:cNvSpPr txBox="1"/>
          <p:nvPr/>
        </p:nvSpPr>
        <p:spPr>
          <a:xfrm>
            <a:off x="720000" y="4240000"/>
            <a:ext cx="10740000" cy="104000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600" b="1">
                <a:solidFill>
                  <a:srgbClr val="1F2937"/>
                </a:solidFill>
              </a:rPr>
              <a:t>本仓库里的 PPOParkourMoE 保留了以上全部主项：GAE、value clipping、entropy 正则、advantages 标准化，以及 adaptive KL 学习率调度。</a:t>
            </a:r>
            <a:endParaRPr lang="zh-CN" sz="1600"/>
          </a:p>
        </p:txBody>
      </p:sp>
      <p:sp>
        <p:nvSpPr>
          <p:cNvPr id="10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公式视角与代码视角的一个差别：论文常写最大化目标，代码里通常把它改写成最小化 loss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5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2.4 算法基本思想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把公式落成一次训练迭代：先采样，再算 returns，再做多轮 mini-batch 更新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6980000" cy="35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50">
                <a:solidFill>
                  <a:srgbClr val="1F2937"/>
                </a:solidFill>
              </a:rPr>
              <a:t>一轮 PPO / on-policy 训练伪代码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1. 用旧策略 pi_old 在并行环境里采样一整个 rollout。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2. 对每个时刻保存 obs, action, reward, done, value, log_prob, mu, sigma。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3. 用最后一步 critic value 做 bootstrap，反向计算 returns 与 GAE advantages。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4. 把 [T, N] 展平为 [T*N]，随机打乱后切成 mini-batch。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5. 对同一批数据重复 5 个 epoch、每个 epoch 4 个 mini-batch。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6. 每个 mini-batch 内重新前向 actor-critic，计算 ratio、surrogate、value、entropy。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7. 做梯度裁剪与 Adam 更新，然后清空 storage，进入下一轮采样。</a:t>
            </a:r>
            <a:endParaRPr lang="zh-CN" sz="1450"/>
          </a:p>
        </p:txBody>
      </p:sp>
      <p:sp>
        <p:nvSpPr>
          <p:cNvPr id="6" name="box"/>
          <p:cNvSpPr txBox="1"/>
          <p:nvPr/>
        </p:nvSpPr>
        <p:spPr>
          <a:xfrm>
            <a:off x="8020000" y="1760000"/>
            <a:ext cx="3440000" cy="352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50">
                <a:solidFill>
                  <a:srgbClr val="1F2937"/>
                </a:solidFill>
              </a:rPr>
              <a:t>本次运行的关键超参数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num_envs = 4096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num_steps_per_env = 24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batch = 98304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num_mini_batches = 4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mini_batch_size = 24576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epochs = 5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每轮总更新步 = 20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learning_rate = 2.0e-04</a:t>
            </a:r>
            <a:endParaRPr lang="zh-CN" sz="1450"/>
          </a:p>
        </p:txBody>
      </p:sp>
      <p:sp>
        <p:nvSpPr>
          <p:cNvPr id="7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从公式到代码的桥梁就在这页：PPO 不是单步优化，而是“采样块 + 多轮重用更新”的交替过程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6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3. 算法网络结构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在本仓库里，PPO 的控制回路是“Estimator -&gt; Actor -&gt; Env -&gt; Storage -&gt; PPO Update”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2480000" cy="190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输入侧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obs_now = 45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obs_history = 10 x 45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depth = 2 x 58 x 87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privileged_obs = 268</a:t>
            </a:r>
            <a:endParaRPr lang="zh-CN" sz="1800"/>
          </a:p>
        </p:txBody>
      </p:sp>
      <p:sp>
        <p:nvSpPr>
          <p:cNvPr id="6" name="arrow"/>
          <p:cNvSpPr txBox="1"/>
          <p:nvPr/>
        </p:nvSpPr>
        <p:spPr>
          <a:xfrm>
            <a:off x="3300000" y="2610000"/>
            <a:ext cx="340000" cy="26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600" b="1">
                <a:solidFill>
                  <a:srgbClr val="C65D2C"/>
                </a:solidFill>
              </a:rPr>
              <a:t>→</a:t>
            </a:r>
            <a:endParaRPr lang="zh-CN" sz="2600"/>
          </a:p>
        </p:txBody>
      </p:sp>
      <p:sp>
        <p:nvSpPr>
          <p:cNvPr id="7" name="box"/>
          <p:cNvSpPr txBox="1"/>
          <p:nvPr/>
        </p:nvSpPr>
        <p:spPr>
          <a:xfrm>
            <a:off x="3660000" y="1760000"/>
            <a:ext cx="3440000" cy="190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ParkourEstimator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多模态 token 化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Transformer 编码 + terrain selector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4 个 read/write experts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输出 mcp_code 与 terrain-aware 中间表征</a:t>
            </a:r>
            <a:endParaRPr lang="zh-CN" sz="1800"/>
          </a:p>
        </p:txBody>
      </p:sp>
      <p:sp>
        <p:nvSpPr>
          <p:cNvPr id="8" name="arrow"/>
          <p:cNvSpPr txBox="1"/>
          <p:nvPr/>
        </p:nvSpPr>
        <p:spPr>
          <a:xfrm>
            <a:off x="7350000" y="2610000"/>
            <a:ext cx="340000" cy="26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600" b="1">
                <a:solidFill>
                  <a:srgbClr val="C65D2C"/>
                </a:solidFill>
              </a:rPr>
              <a:t>→</a:t>
            </a:r>
            <a:endParaRPr lang="zh-CN" sz="2600"/>
          </a:p>
        </p:txBody>
      </p:sp>
      <p:sp>
        <p:nvSpPr>
          <p:cNvPr id="9" name="box"/>
          <p:cNvSpPr txBox="1"/>
          <p:nvPr/>
        </p:nvSpPr>
        <p:spPr>
          <a:xfrm>
            <a:off x="7760000" y="1760000"/>
            <a:ext cx="3600000" cy="127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ActorCriticParkourMoE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actor input = 113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critic input = 269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策略分布 = Normal(mean, std)</a:t>
            </a:r>
            <a:endParaRPr lang="zh-CN" sz="1800"/>
          </a:p>
        </p:txBody>
      </p:sp>
      <p:sp>
        <p:nvSpPr>
          <p:cNvPr id="10" name="box"/>
          <p:cNvSpPr txBox="1"/>
          <p:nvPr/>
        </p:nvSpPr>
        <p:spPr>
          <a:xfrm>
            <a:off x="8120000" y="3260000"/>
            <a:ext cx="2720000" cy="98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1F2937"/>
                </a:solidFill>
              </a:rPr>
              <a:t>RolloutStorage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缓存整段 rollout</a:t>
            </a:r>
            <a:endParaRPr lang="zh-CN" sz="1800"/>
          </a:p>
          <a:p>
            <a:pPr algn="ctr"/>
            <a:r>
              <a:rPr lang="zh-CN" sz="1800" b="1">
                <a:solidFill>
                  <a:srgbClr val="1F2937"/>
                </a:solidFill>
              </a:rPr>
              <a:t>并支撑后续 mini-batch 重放</a:t>
            </a:r>
            <a:endParaRPr lang="zh-CN" sz="1800"/>
          </a:p>
        </p:txBody>
      </p:sp>
      <p:sp>
        <p:nvSpPr>
          <p:cNvPr id="11" name="box"/>
          <p:cNvSpPr txBox="1"/>
          <p:nvPr/>
        </p:nvSpPr>
        <p:spPr>
          <a:xfrm>
            <a:off x="720000" y="4450000"/>
            <a:ext cx="5420000" cy="125000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>
                <a:solidFill>
                  <a:srgbClr val="1F2937"/>
                </a:solidFill>
              </a:rPr>
              <a:t>mcp_code 组成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mcp_code = [v_t(3), h_tf(4), z_mu(16), z_tm(32), terrain_onehot(12)] = 67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runner 会再 append 一个 vision_flag，因此真正送入 actor 的 context 是 68 维。</a:t>
            </a:r>
            <a:endParaRPr lang="zh-CN" sz="1500"/>
          </a:p>
        </p:txBody>
      </p:sp>
      <p:sp>
        <p:nvSpPr>
          <p:cNvPr id="12" name="box"/>
          <p:cNvSpPr txBox="1"/>
          <p:nvPr/>
        </p:nvSpPr>
        <p:spPr>
          <a:xfrm>
            <a:off x="6520000" y="4450000"/>
            <a:ext cx="4840000" cy="125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>
                <a:solidFill>
                  <a:srgbClr val="1F2937"/>
                </a:solidFill>
              </a:rPr>
              <a:t>不对称 actor-critic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actor: mcp_code + obs_now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critic: privileged_obs + vision_flag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这让 critic 学得更稳，actor 仍保持部署友好。</a:t>
            </a:r>
            <a:endParaRPr lang="zh-CN" sz="1500"/>
          </a:p>
        </p:txBody>
      </p:sp>
      <p:sp>
        <p:nvSpPr>
          <p:cNvPr id="13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核心文件：actor_critic_parkour_moe.py、ppo_parkour_moe.py、rollout_storage_parkour_moe.py</a:t>
            </a:r>
            <a:endParaRPr lang="zh-C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7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4.1 网络结构解析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先看模块接口：每个组件在训练时到底负责什么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3330000" cy="33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60">
                <a:solidFill>
                  <a:srgbClr val="1F2937"/>
                </a:solidFill>
              </a:rPr>
              <a:t>Estimator 负责“感知压缩”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输入: proprio history + depth + vision flag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输出: mcp_code, terrain_logits, m_hat, o_hat, z_mu, z_logvar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训练目标: vt / ht / mt / terrain_id / reconstruction / z_kl / swav / load_balance</a:t>
            </a:r>
            <a:endParaRPr lang="zh-CN" sz="1460"/>
          </a:p>
        </p:txBody>
      </p:sp>
      <p:sp>
        <p:nvSpPr>
          <p:cNvPr id="6" name="box"/>
          <p:cNvSpPr txBox="1"/>
          <p:nvPr/>
        </p:nvSpPr>
        <p:spPr>
          <a:xfrm>
            <a:off x="4450000" y="1760000"/>
            <a:ext cx="3330000" cy="336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60">
                <a:solidFill>
                  <a:srgbClr val="1F2937"/>
                </a:solidFill>
              </a:rPr>
              <a:t>ActorCritic 负责“控制优化”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actor.act(): 产生动作采样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critic.evaluate(): 给出 V(s)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get_actions_log_prob(): 提供 PPO ratio 所需的新旧 log_prob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std 是独立可学习参数，不依赖输入。</a:t>
            </a:r>
            <a:endParaRPr lang="zh-CN" sz="1460"/>
          </a:p>
        </p:txBody>
      </p:sp>
      <p:sp>
        <p:nvSpPr>
          <p:cNvPr id="7" name="box"/>
          <p:cNvSpPr txBox="1"/>
          <p:nvPr/>
        </p:nvSpPr>
        <p:spPr>
          <a:xfrm>
            <a:off x="8180000" y="1760000"/>
            <a:ext cx="3280000" cy="336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60">
                <a:solidFill>
                  <a:srgbClr val="1F2937"/>
                </a:solidFill>
              </a:rPr>
              <a:t>Storage 负责“把一整段 rollout 变成训练批”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add_transitions(): 存 step 级数据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compute_returns(): 反向算 GAE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mini_batch_generator(): 展平 T x N 后随机打乱</a:t>
            </a:r>
            <a:endParaRPr lang="zh-CN" sz="1460"/>
          </a:p>
          <a:p>
            <a:pPr algn="l"/>
            <a:r>
              <a:rPr lang="zh-CN" sz="1460">
                <a:solidFill>
                  <a:srgbClr val="1F2937"/>
                </a:solidFill>
              </a:rPr>
              <a:t>同时保留 old_mu / old_sigma 供 adaptive KL 使用。</a:t>
            </a:r>
            <a:endParaRPr lang="zh-CN" sz="1460"/>
          </a:p>
        </p:txBody>
      </p:sp>
      <p:sp>
        <p:nvSpPr>
          <p:cNvPr id="8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所以这套实现不是单一神经网络，而是 estimator、actor-critic、storage、runner 协同组成的训练系统</a:t>
            </a:r>
            <a:endParaRPr lang="zh-CN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8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4.2 网络结构解析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onpolicyrunner_parkour_moe.learn() 的外层伪代码：先看 iteration 级控制流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00000"/>
            <a:ext cx="7050000" cy="450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80">
                <a:solidFill>
                  <a:srgbClr val="1F2937"/>
                </a:solidFill>
              </a:rPr>
              <a:t>obs = env.get_observations(); privileged_obs = env.get_privileged_observations()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additional_obs = env.get_additional_observations(); history.zero_(); update_history(obs)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for it in range(current_learning_iteration, tot_iter):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  if easy terrain and it % vision_toggle_interval == 0: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      mask[easy_idx] = ~mask[easy_idx]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  reset estimator metric accumulators, mcp_code = None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  for step in range(num_steps_per_env):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      do rollout collection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  alg.compute_returns(critic_obs, mcp_code)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  mean_value_loss, mean_surrogate_loss, mean_entropy_loss = alg.update()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  log(...); if it % save_interval == 0: save(model_it.pt)</a:t>
            </a:r>
            <a:endParaRPr lang="zh-CN" sz="1280"/>
          </a:p>
          <a:p>
            <a:pPr algn="l"/>
            <a:r>
              <a:rPr lang="zh-CN" sz="1280">
                <a:solidFill>
                  <a:srgbClr val="1F2937"/>
                </a:solidFill>
              </a:rPr>
              <a:t>current_learning_iteration += num_learning_iterations; save(last_model)</a:t>
            </a:r>
            <a:endParaRPr lang="zh-CN" sz="1280"/>
          </a:p>
        </p:txBody>
      </p:sp>
      <p:sp>
        <p:nvSpPr>
          <p:cNvPr id="6" name="box"/>
          <p:cNvSpPr txBox="1"/>
          <p:nvPr/>
        </p:nvSpPr>
        <p:spPr>
          <a:xfrm>
            <a:off x="8080000" y="1700000"/>
            <a:ext cx="3380000" cy="450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50">
                <a:solidFill>
                  <a:srgbClr val="1F2937"/>
                </a:solidFill>
              </a:rPr>
              <a:t>这一层决定了什么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• 每轮先采 24 步，再更新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• vision mask 只在 easy terrain 周期翻转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• 一轮 rollout 结束后才统一 compute_returns()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• PPO 主更新与 estimator 更新是交织的，但时序不同</a:t>
            </a:r>
            <a:endParaRPr lang="zh-CN" sz="1450"/>
          </a:p>
          <a:p>
            <a:pPr algn="l"/>
            <a:r>
              <a:rPr lang="zh-CN" sz="1450">
                <a:solidFill>
                  <a:srgbClr val="1F2937"/>
                </a:solidFill>
              </a:rPr>
              <a:t>• save / log 都挂在 iteration 粒度上</a:t>
            </a:r>
            <a:endParaRPr lang="zh-CN" sz="1450"/>
          </a:p>
        </p:txBody>
      </p:sp>
      <p:sp>
        <p:nvSpPr>
          <p:cNvPr id="7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如果把 training loop 看成一棵树，这页是最外层 for-it 结构</a:t>
            </a:r>
            <a:endParaRPr 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9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4.3 网络结构解析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onpolicyrunner_parkour_moe.learn() 的内层伪代码：每一个 env step 里发生了什么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00000"/>
            <a:ext cx="7050000" cy="46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40">
                <a:solidFill>
                  <a:srgbClr val="1F2937"/>
                </a:solidFill>
              </a:rPr>
              <a:t>critic_obs = privileged_obs if exists else obs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refresh_estimator = (common_step_counter % camera_update_interval == 0) or (mcp_code is None)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if refresh_estimator: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obs_now, proprio_hist = extract_obs_and_history(obs)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gt_vt, gt_ht, gt_mt, gt_terrain_id = get_estimator_targets(critic_obs)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camera_depth = additional_obs['depth_camera']; mask_snapshot = mask.clone()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est_out = alg.estimator(proprio_hist, camera_depth, mask_snapshot, gt_mt_step, obs_now)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mcp_code = append_vision_flag_to_mcp(est_out['mcp_code'], mask_snapshot)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with torch.inference_mode(): actions = alg.act(mcp_code, obs, critic_obs)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obs, privileged_obs, rewards, dones, infos = env.step(actions)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update_history(obs, dones)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if refresh_estimator: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build_swav_window(...); alg.update_estimator(...); alg.update_image_recon(camera_depth)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alg.process_env_step(rewards, dones, infos); alg.estimator.reset(dones); reset_swav_history(dones)</a:t>
            </a:r>
            <a:endParaRPr lang="zh-CN" sz="1240"/>
          </a:p>
        </p:txBody>
      </p:sp>
      <p:sp>
        <p:nvSpPr>
          <p:cNvPr id="6" name="box"/>
          <p:cNvSpPr txBox="1"/>
          <p:nvPr/>
        </p:nvSpPr>
        <p:spPr>
          <a:xfrm>
            <a:off x="8080000" y="1700000"/>
            <a:ext cx="3380000" cy="462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>
                <a:solidFill>
                  <a:srgbClr val="1F2937"/>
                </a:solidFill>
              </a:rPr>
              <a:t>这一层的关键细节</a:t>
            </a:r>
            <a:endParaRPr lang="zh-CN" sz="1400"/>
          </a:p>
          <a:p>
            <a:pPr algn="l"/>
            <a:r>
              <a:rPr lang="zh-CN" sz="1400">
                <a:solidFill>
                  <a:srgbClr val="1F2937"/>
                </a:solidFill>
              </a:rPr>
              <a:t>• estimator 不是每步都刷新，而是按 camera_update_interval=5</a:t>
            </a:r>
            <a:endParaRPr lang="zh-CN" sz="1400"/>
          </a:p>
          <a:p>
            <a:pPr algn="l"/>
            <a:r>
              <a:rPr lang="zh-CN" sz="1400">
                <a:solidFill>
                  <a:srgbClr val="1F2937"/>
                </a:solidFill>
              </a:rPr>
              <a:t>• actor 平时可以复用上一帧的 mcp_code</a:t>
            </a:r>
            <a:endParaRPr lang="zh-CN" sz="1400"/>
          </a:p>
          <a:p>
            <a:pPr algn="l"/>
            <a:r>
              <a:rPr lang="zh-CN" sz="1400">
                <a:solidFill>
                  <a:srgbClr val="1F2937"/>
                </a:solidFill>
              </a:rPr>
              <a:t>• estimator 更新与 image AE 更新发生在 rollout 收集阶段内部</a:t>
            </a:r>
            <a:endParaRPr lang="zh-CN" sz="1400"/>
          </a:p>
          <a:p>
            <a:pPr algn="l"/>
            <a:r>
              <a:rPr lang="zh-CN" sz="1400">
                <a:solidFill>
                  <a:srgbClr val="1F2937"/>
                </a:solidFill>
              </a:rPr>
              <a:t>• 但 PPO 主更新仍在整段 rollout 结束后统一进行</a:t>
            </a:r>
            <a:endParaRPr lang="zh-CN" sz="1400"/>
          </a:p>
          <a:p>
            <a:pPr algn="l"/>
            <a:r>
              <a:rPr lang="zh-CN" sz="1400">
                <a:solidFill>
                  <a:srgbClr val="1F2937"/>
                </a:solidFill>
              </a:rPr>
              <a:t>• 因而这是“online data collection + delayed PPO update”的混合节奏</a:t>
            </a:r>
            <a:endParaRPr lang="zh-CN" sz="1400"/>
          </a:p>
        </p:txBody>
      </p:sp>
      <p:sp>
        <p:nvSpPr>
          <p:cNvPr id="7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这页最像“伪代码”。它对应的是 runner 里 step 级别的真实执行顺序，而不是抽象框图</a:t>
            </a:r>
            <a:endParaRPr lang="zh-CN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10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4.4 网络结构解析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PPOParkourMoE.update() 与 RolloutStorage：真正的 PPO 损失是怎样从缓存数据里算出来的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5180000" cy="37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40">
                <a:solidFill>
                  <a:srgbClr val="1F2937"/>
                </a:solidFill>
              </a:rPr>
              <a:t>RolloutStorage 伪代码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add_transitions():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store observations, critic_observations, mcp_code, actions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store rewards, dones, values, actions_log_prob, mu, sigma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compute_returns(last_values, gamma, lam):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for step in reversed(range(T)):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    delta = r + gamma * next_value * (1-done) - value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    advantage = delta + gamma * lam * (1-done) * advantage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    returns[step] = advantage + value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advantages = normalize(returns - values)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mini_batch_generator(): flatten [T, N] -&gt; [T*N], random permute, yield mini-batches</a:t>
            </a:r>
            <a:endParaRPr lang="zh-CN" sz="1240"/>
          </a:p>
        </p:txBody>
      </p:sp>
      <p:sp>
        <p:nvSpPr>
          <p:cNvPr id="6" name="box"/>
          <p:cNvSpPr txBox="1"/>
          <p:nvPr/>
        </p:nvSpPr>
        <p:spPr>
          <a:xfrm>
            <a:off x="6220000" y="1760000"/>
            <a:ext cx="5240000" cy="376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40">
                <a:solidFill>
                  <a:srgbClr val="1F2937"/>
                </a:solidFill>
              </a:rPr>
              <a:t>PPOParkourMoE.update() 伪代码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for each mini-batch: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actor_critic.act(mcp_code_batch, obs_batch)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log_prob_new = get_actions_log_prob(actions_batch)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value_new = evaluate(critic_obs_batch, mcp_code_batch)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ratio = exp(log_prob_new - log_prob_old)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surrogate = max(-A * ratio, -A * clip(ratio, 1-eps, 1+eps))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value_loss = clipped value loss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loss = surrogate + c_v * value_loss - c_e * entropy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if adaptive KL: 根据 old_mu / old_sigma 调 learning_rate</a:t>
            </a:r>
            <a:endParaRPr lang="zh-CN" sz="1240"/>
          </a:p>
          <a:p>
            <a:pPr algn="l"/>
            <a:r>
              <a:rPr lang="zh-CN" sz="1240">
                <a:solidFill>
                  <a:srgbClr val="1F2937"/>
                </a:solidFill>
              </a:rPr>
              <a:t>  zero_grad(); backward(); clip_grad_norm(); optimizer.step()</a:t>
            </a:r>
            <a:endParaRPr lang="zh-CN" sz="1240"/>
          </a:p>
        </p:txBody>
      </p:sp>
      <p:sp>
        <p:nvSpPr>
          <p:cNvPr id="7" name="box"/>
          <p:cNvSpPr txBox="1"/>
          <p:nvPr/>
        </p:nvSpPr>
        <p:spPr>
          <a:xfrm>
            <a:off x="1360000" y="5920000"/>
            <a:ext cx="9380000" cy="42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400" b="1">
                <a:solidFill>
                  <a:srgbClr val="1F2937"/>
                </a:solidFill>
              </a:rPr>
              <a:t>对应当前配置：每轮共有 98304 个样本，切成 4 个 mini-batch，每轮实际执行 20 次参数更新。</a:t>
            </a:r>
            <a:endParaRPr lang="zh-CN" sz="1400"/>
          </a:p>
        </p:txBody>
      </p:sp>
      <p:sp>
        <p:nvSpPr>
          <p:cNvPr id="8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基础 PPO 看 ppo.py；本项目版本在 update_estimator() 和 update_image_recon() 上额外并行训练感知模块</a:t>
            </a:r>
            <a:endParaRPr lang="zh-CN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11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5. 算法的应用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在 parkour_moe 中，PPO 被用于四足机器人跨多类地形的感知控制联合训练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4960000" cy="20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应用场景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Go2 四足机器人 parkour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视觉 + 本体多模态输入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当前观测、10 步历史、2 帧 proxy depth、特权 critic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目标不仅是前进，还包括 clearance、targeted foothold、turn-over recovery</a:t>
            </a:r>
            <a:endParaRPr lang="zh-CN" sz="1800"/>
          </a:p>
        </p:txBody>
      </p:sp>
      <p:sp>
        <p:nvSpPr>
          <p:cNvPr id="6" name="box"/>
          <p:cNvSpPr txBox="1"/>
          <p:nvPr/>
        </p:nvSpPr>
        <p:spPr>
          <a:xfrm>
            <a:off x="6040000" y="1760000"/>
            <a:ext cx="5380000" cy="206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为什么仍然选 PPO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适合大规模并行采样，训练吞吐高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actor-critic 结构天然兼容 privileged critic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可以稳妥叠加 estimator、terrain routing、auxiliary losses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在 MuJoCo/真机部署前，先在仿真中形成稳定优化闭环</a:t>
            </a:r>
            <a:endParaRPr lang="zh-CN" sz="1800"/>
          </a:p>
        </p:txBody>
      </p:sp>
      <p:sp>
        <p:nvSpPr>
          <p:cNvPr id="7" name="box"/>
          <p:cNvSpPr txBox="1"/>
          <p:nvPr/>
        </p:nvSpPr>
        <p:spPr>
          <a:xfrm>
            <a:off x="720000" y="4050000"/>
            <a:ext cx="1640000" cy="56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single_gap</a:t>
            </a:r>
            <a:endParaRPr lang="zh-CN" sz="1200"/>
          </a:p>
        </p:txBody>
      </p:sp>
      <p:sp>
        <p:nvSpPr>
          <p:cNvPr id="8" name="box"/>
          <p:cNvSpPr txBox="1"/>
          <p:nvPr/>
        </p:nvSpPr>
        <p:spPr>
          <a:xfrm>
            <a:off x="2500000" y="4050000"/>
            <a:ext cx="1640000" cy="56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step_stone</a:t>
            </a:r>
            <a:endParaRPr lang="zh-CN" sz="1200"/>
          </a:p>
        </p:txBody>
      </p:sp>
      <p:sp>
        <p:nvSpPr>
          <p:cNvPr id="9" name="box"/>
          <p:cNvSpPr txBox="1"/>
          <p:nvPr/>
        </p:nvSpPr>
        <p:spPr>
          <a:xfrm>
            <a:off x="4280000" y="4050000"/>
            <a:ext cx="1640000" cy="56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two_row_stones</a:t>
            </a:r>
            <a:endParaRPr lang="zh-CN" sz="1200"/>
          </a:p>
        </p:txBody>
      </p:sp>
      <p:sp>
        <p:nvSpPr>
          <p:cNvPr id="10" name="box"/>
          <p:cNvSpPr txBox="1"/>
          <p:nvPr/>
        </p:nvSpPr>
        <p:spPr>
          <a:xfrm>
            <a:off x="6060000" y="4050000"/>
            <a:ext cx="1640000" cy="56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one_row_stones</a:t>
            </a:r>
            <a:endParaRPr lang="zh-CN" sz="1200"/>
          </a:p>
        </p:txBody>
      </p:sp>
      <p:sp>
        <p:nvSpPr>
          <p:cNvPr id="11" name="box"/>
          <p:cNvSpPr txBox="1"/>
          <p:nvPr/>
        </p:nvSpPr>
        <p:spPr>
          <a:xfrm>
            <a:off x="7840000" y="4050000"/>
            <a:ext cx="1640000" cy="56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single_bridge</a:t>
            </a:r>
            <a:endParaRPr lang="zh-CN" sz="1200"/>
          </a:p>
        </p:txBody>
      </p:sp>
      <p:sp>
        <p:nvSpPr>
          <p:cNvPr id="12" name="box"/>
          <p:cNvSpPr txBox="1"/>
          <p:nvPr/>
        </p:nvSpPr>
        <p:spPr>
          <a:xfrm>
            <a:off x="9620000" y="4050000"/>
            <a:ext cx="1640000" cy="56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air_beams</a:t>
            </a:r>
            <a:endParaRPr lang="zh-CN" sz="1200"/>
          </a:p>
        </p:txBody>
      </p:sp>
      <p:sp>
        <p:nvSpPr>
          <p:cNvPr id="13" name="box"/>
          <p:cNvSpPr txBox="1"/>
          <p:nvPr/>
        </p:nvSpPr>
        <p:spPr>
          <a:xfrm>
            <a:off x="720000" y="4750000"/>
            <a:ext cx="1640000" cy="56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air_stones</a:t>
            </a:r>
            <a:endParaRPr lang="zh-CN" sz="1200"/>
          </a:p>
        </p:txBody>
      </p:sp>
      <p:sp>
        <p:nvSpPr>
          <p:cNvPr id="14" name="box"/>
          <p:cNvSpPr txBox="1"/>
          <p:nvPr/>
        </p:nvSpPr>
        <p:spPr>
          <a:xfrm>
            <a:off x="2500000" y="4750000"/>
            <a:ext cx="1640000" cy="56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hurdle</a:t>
            </a:r>
            <a:endParaRPr lang="zh-CN" sz="1200"/>
          </a:p>
        </p:txBody>
      </p:sp>
      <p:sp>
        <p:nvSpPr>
          <p:cNvPr id="15" name="box"/>
          <p:cNvSpPr txBox="1"/>
          <p:nvPr/>
        </p:nvSpPr>
        <p:spPr>
          <a:xfrm>
            <a:off x="4280000" y="4750000"/>
            <a:ext cx="1640000" cy="56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ramp</a:t>
            </a:r>
            <a:endParaRPr lang="zh-CN" sz="1200"/>
          </a:p>
        </p:txBody>
      </p:sp>
      <p:sp>
        <p:nvSpPr>
          <p:cNvPr id="16" name="box"/>
          <p:cNvSpPr txBox="1"/>
          <p:nvPr/>
        </p:nvSpPr>
        <p:spPr>
          <a:xfrm>
            <a:off x="6060000" y="4750000"/>
            <a:ext cx="1640000" cy="56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corridor</a:t>
            </a:r>
            <a:endParaRPr lang="zh-CN" sz="1200"/>
          </a:p>
        </p:txBody>
      </p:sp>
      <p:sp>
        <p:nvSpPr>
          <p:cNvPr id="17" name="box"/>
          <p:cNvSpPr txBox="1"/>
          <p:nvPr/>
        </p:nvSpPr>
        <p:spPr>
          <a:xfrm>
            <a:off x="7840000" y="4750000"/>
            <a:ext cx="1640000" cy="56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stairs_up</a:t>
            </a:r>
            <a:endParaRPr lang="zh-CN" sz="1200"/>
          </a:p>
        </p:txBody>
      </p:sp>
      <p:sp>
        <p:nvSpPr>
          <p:cNvPr id="18" name="box"/>
          <p:cNvSpPr txBox="1"/>
          <p:nvPr/>
        </p:nvSpPr>
        <p:spPr>
          <a:xfrm>
            <a:off x="9620000" y="4750000"/>
            <a:ext cx="1640000" cy="56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1F2937"/>
                </a:solidFill>
              </a:rPr>
              <a:t>flat</a:t>
            </a:r>
            <a:endParaRPr lang="zh-CN" sz="1200"/>
          </a:p>
        </p:txBody>
      </p:sp>
      <p:sp>
        <p:nvSpPr>
          <p:cNvPr id="19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地形名来自 legged_gym/utils/terrain_mgdp.py；部署路径可见 deploy/deploy_mujoco 与 deploy/deploy_real</a:t>
            </a:r>
            <a:endParaRPr lang="zh-CN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12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6. 算法的性能曲线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来自 ZApr19_16-24-31_GOOD 的真实训练日志：回报提升、课程推进、停滞率下降</a:t>
            </a:r>
            <a:endParaRPr lang="zh-CN" sz="2600"/>
          </a:p>
        </p:txBody>
      </p:sp>
      <p:sp>
        <p:nvSpPr>
          <p:cNvPr id="6" name="box"/>
          <p:cNvSpPr txBox="1"/>
          <p:nvPr/>
        </p:nvSpPr>
        <p:spPr>
          <a:xfrm>
            <a:off x="9020000" y="1900000"/>
            <a:ext cx="2430000" cy="346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>
                <a:solidFill>
                  <a:srgbClr val="1F2937"/>
                </a:solidFill>
              </a:rPr>
              <a:t>关键读图结论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• Mean reward: final 9.02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  peak 12.81 @ 27048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• Episode length: final 618.41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  peak 756.97 @ 27048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• Terrain level: final 6.23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• No-progress frac: final 3.97%</a:t>
            </a:r>
            <a:endParaRPr lang="zh-CN" sz="1500"/>
          </a:p>
          <a:p>
            <a:pPr algn="l"/>
            <a:r>
              <a:rPr lang="zh-CN" sz="1500">
                <a:solidFill>
                  <a:srgbClr val="1F2937"/>
                </a:solidFill>
              </a:rPr>
              <a:t>• 曲线并非单调上升，说明课程难度提升后仍有正常波动</a:t>
            </a:r>
            <a:endParaRPr lang="zh-CN" sz="1500"/>
          </a:p>
        </p:txBody>
      </p:sp>
      <p:sp>
        <p:nvSpPr>
          <p:cNvPr id="7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数据来源：logs/go2_parkour_moe/ZApr19_16-24-31_GOOD/events.out.tfevents.*</a:t>
            </a:r>
            <a:endParaRPr lang="zh-CN" sz="900"/>
          </a:p>
        </p:txBody>
      </p:sp>
      <p:pic>
        <p:nvPicPr>
          <p:cNvPr id="5" name="ppo_training_cur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" y="1700000"/>
            <a:ext cx="8050000" cy="439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20000" y="100000"/>
            <a:ext cx="1780000" cy="108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13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50000"/>
            <a:ext cx="265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80" b="1">
                <a:solidFill>
                  <a:srgbClr val="FFFFFF"/>
                </a:solidFill>
              </a:rPr>
              <a:t>7. 结论</a:t>
            </a:r>
            <a:endParaRPr lang="zh-CN" sz="1280"/>
          </a:p>
        </p:txBody>
      </p:sp>
      <p:sp>
        <p:nvSpPr>
          <p:cNvPr id="4" name="title"/>
          <p:cNvSpPr txBox="1"/>
          <p:nvPr/>
        </p:nvSpPr>
        <p:spPr>
          <a:xfrm>
            <a:off x="720000" y="640000"/>
            <a:ext cx="10050000" cy="64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PPO 在本项目中的角色是“稳定优化骨架”，而不是唯一决定性能的模块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3260000" cy="260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从论文视角看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PPO 把 trust-region 思想改写成更好实现的 clip 目标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一阶优化即可得到较强稳定性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适合连续控制与大规模并行训练</a:t>
            </a:r>
            <a:endParaRPr lang="zh-CN" sz="1800"/>
          </a:p>
        </p:txBody>
      </p:sp>
      <p:sp>
        <p:nvSpPr>
          <p:cNvPr id="6" name="box"/>
          <p:cNvSpPr txBox="1"/>
          <p:nvPr/>
        </p:nvSpPr>
        <p:spPr>
          <a:xfrm>
            <a:off x="4450000" y="1760000"/>
            <a:ext cx="3260000" cy="260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从代码视角看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rsl_rl 实现了 GAE、ratio clipping、value clipping、entropy 与 adaptive KL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actor 与 critic 明确分工，storage 负责多轮样本复用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parkour_moe 版本进一步支持 estimator / depth AE 联训</a:t>
            </a:r>
            <a:endParaRPr lang="zh-CN" sz="1800"/>
          </a:p>
        </p:txBody>
      </p:sp>
      <p:sp>
        <p:nvSpPr>
          <p:cNvPr id="7" name="box"/>
          <p:cNvSpPr txBox="1"/>
          <p:nvPr/>
        </p:nvSpPr>
        <p:spPr>
          <a:xfrm>
            <a:off x="8180000" y="1760000"/>
            <a:ext cx="3280000" cy="260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>
                <a:solidFill>
                  <a:srgbClr val="1F2937"/>
                </a:solidFill>
              </a:rPr>
              <a:t>从项目视角看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真正拉开任务性能的是多模态估计器、terrain-aware MoE 和 reward 设计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但这些能力需要一个足够稳的外层优化器来承载</a:t>
            </a:r>
            <a:endParaRPr lang="zh-CN" sz="1800"/>
          </a:p>
          <a:p>
            <a:pPr algn="l"/>
            <a:r>
              <a:rPr lang="zh-CN" sz="1800">
                <a:solidFill>
                  <a:srgbClr val="1F2937"/>
                </a:solidFill>
              </a:rPr>
              <a:t>• 本仓库里，这个角色正是 PPO</a:t>
            </a:r>
            <a:endParaRPr lang="zh-CN" sz="1800"/>
          </a:p>
        </p:txBody>
      </p:sp>
      <p:sp>
        <p:nvSpPr>
          <p:cNvPr id="8" name="box"/>
          <p:cNvSpPr txBox="1"/>
          <p:nvPr/>
        </p:nvSpPr>
        <p:spPr>
          <a:xfrm>
            <a:off x="1360000" y="4740000"/>
            <a:ext cx="9540000" cy="82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1">
                <a:solidFill>
                  <a:srgbClr val="1F2937"/>
                </a:solidFill>
              </a:rPr>
              <a:t>最后一句：如果把 ParkourMoE 看成一辆车，估计器和 MoE 决定“车能去哪”，PPO 决定“车能否稳定开到那”。</a:t>
            </a:r>
            <a:endParaRPr lang="zh-CN" sz="1700"/>
          </a:p>
        </p:txBody>
      </p:sp>
      <p:sp>
        <p:nvSpPr>
          <p:cNvPr id="9" name="text"/>
          <p:cNvSpPr txBox="1"/>
          <p:nvPr/>
        </p:nvSpPr>
        <p:spPr>
          <a:xfrm>
            <a:off x="740000" y="6350000"/>
            <a:ext cx="10650000" cy="25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900">
                <a:solidFill>
                  <a:srgbClr val="5B6470"/>
                </a:solidFill>
              </a:rPr>
              <a:t>局限性：PPO 仍是 on-policy，样本效率不如一些 off-policy 方法；性能也强依赖观测设计与奖励塑形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ourTheme">
  <a:themeElements>
    <a:clrScheme name="ParkourColors">
      <a:dk1>
        <a:srgbClr val="1F2937"/>
      </a:dk1>
      <a:lt1>
        <a:srgbClr val="FFFFFF"/>
      </a:lt1>
      <a:dk2>
        <a:srgbClr val="111827"/>
      </a:dk2>
      <a:lt2>
        <a:srgbClr val="F8FAFC"/>
      </a:lt2>
      <a:accent1>
        <a:srgbClr val="C65D2C"/>
      </a:accent1>
      <a:accent2>
        <a:srgbClr val="0F766E"/>
      </a:accent2>
      <a:accent3>
        <a:srgbClr val="1D4ED8"/>
      </a:accent3>
      <a:accent4>
        <a:srgbClr val="B45309"/>
      </a:accent4>
      <a:accent5>
        <a:srgbClr val="7C3AED"/>
      </a:accent5>
      <a:accent6>
        <a:srgbClr val="BE185D"/>
      </a:accent6>
      <a:hlink>
        <a:srgbClr val="0563C1"/>
      </a:hlink>
      <a:folHlink>
        <a:srgbClr val="954F72"/>
      </a:folHlink>
    </a:clrScheme>
    <a:fontScheme name="Parkour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arkourFm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Custom</PresentationFormat>
  <Slides>14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14</vt:i4>
      </vt:variant>
    </vt:vector>
  </HeadingPairs>
  <TitlesOfParts>
    <vt:vector size="14" baseType="lpstr">
      <vt:lpstr>PPO算法介绍与本仓库中的实际落地</vt:lpstr>
      <vt:lpstr>PPO 的出发点：在不牺牲稳定性的前提下，把 trust-region 思想做成更易用的工程算法</vt:lpstr>
      <vt:lpstr>从 policy gradient 到 PPO：关键是把“新旧策略差异”显式写进目标函数</vt:lpstr>
      <vt:lpstr>最重要的公式：clipped surrogate 如何限制策略更新</vt:lpstr>
      <vt:lpstr>优势、回报与完整损失：PPO 不是只有一个 clip 项</vt:lpstr>
      <vt:lpstr>把公式落成一次训练迭代：先采样，再算 returns，再做多轮 mini-batch 更新</vt:lpstr>
      <vt:lpstr>在本仓库里，PPO 的控制回路是“Estimator -&gt; Actor -&gt; Env -&gt; Storage -&gt; PPO Update”</vt:lpstr>
      <vt:lpstr>先看模块接口：每个组件在训练时到底负责什么</vt:lpstr>
      <vt:lpstr>onpolicyrunner_parkour_moe.learn() 的外层伪代码：先看 iteration 级控制流</vt:lpstr>
      <vt:lpstr>onpolicyrunner_parkour_moe.learn() 的内层伪代码：每一个 env step 里发生了什么</vt:lpstr>
      <vt:lpstr>PPOParkourMoE.update() 与 RolloutStorage：真正的 PPO 损失是怎样从缓存数据里算出来的</vt:lpstr>
      <vt:lpstr>在 parkour_moe 中，PPO 被用于四足机器人跨多类地形的感知控制联合训练</vt:lpstr>
      <vt:lpstr>来自 ZApr19_16-24-31_GOOD 的真实训练日志：回报提升、课程推进、停滞率下降</vt:lpstr>
      <vt:lpstr>PPO 在本项目中的角色是“稳定优化骨架”，而不是唯一决定性能的模块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PPO算法介绍与本仓库中的实际落地</dc:title>
  <dc:creator>Codex</dc:creator>
  <cp:lastModifiedBy>Codex</cp:lastModifiedBy>
  <dcterms:created xsi:type="dcterms:W3CDTF">2026-04-21T04:53:53Z</dcterms:created>
  <dcterms:modified xsi:type="dcterms:W3CDTF">2026-04-21T04:53:53Z</dcterms:modified>
</cp:coreProperties>
</file>