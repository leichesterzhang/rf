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/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1" snapToObjects="1" showGuides="1"/>
  </p:slideViewPr>
  <p:notesTextViewPr/>
  <p:gridSpacing cx="780288" cy="78028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50" Type="http://schemas.openxmlformats.org/officeDocument/2006/relationships/presProps" Target="presProps.xml"/><Relationship Id="rId51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01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基于当前工作区最新代码路径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Parkour MoE Estimator-Actor-Critic</a:t>
            </a:r>
            <a:endParaRPr lang="zh-CN" sz="2600"/>
          </a:p>
        </p:txBody>
      </p:sp>
      <p:sp>
        <p:nvSpPr>
          <p:cNvPr id="5" name="text"/>
          <p:cNvSpPr txBox="1"/>
          <p:nvPr/>
        </p:nvSpPr>
        <p:spPr>
          <a:xfrm>
            <a:off x="720000" y="1420000"/>
            <a:ext cx="10000000" cy="9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5B6470"/>
                </a:solidFill>
              </a:rPr>
              <a:t>核心定位：用 estimator 把 history proprio + proxy depth + vision flag 压成 mcp_code</a:t>
            </a:r>
            <a:endParaRPr lang="zh-CN" sz="1850"/>
          </a:p>
          <a:p>
            <a:pPr algn="l"/>
            <a:r>
              <a:rPr lang="zh-CN" sz="1850">
                <a:solidFill>
                  <a:srgbClr val="5B6470"/>
                </a:solidFill>
              </a:rPr>
              <a:t>actor 只看 mcp_code + obs_now，critic 独立看 privileged obs</a:t>
            </a:r>
            <a:endParaRPr lang="zh-CN" sz="1850"/>
          </a:p>
          <a:p>
            <a:pPr algn="l"/>
            <a:r>
              <a:rPr lang="zh-CN" sz="1850">
                <a:solidFill>
                  <a:srgbClr val="5B6470"/>
                </a:solidFill>
              </a:rPr>
              <a:t>训练、推理、MuJoCo 和真机部署复用同一套 estimator / actor / selector 结构</a:t>
            </a:r>
            <a:endParaRPr lang="zh-CN" sz="1850"/>
          </a:p>
        </p:txBody>
      </p:sp>
      <p:sp>
        <p:nvSpPr>
          <p:cNvPr id="6" name="box"/>
          <p:cNvSpPr txBox="1"/>
          <p:nvPr/>
        </p:nvSpPr>
        <p:spPr>
          <a:xfrm>
            <a:off x="720000" y="2480000"/>
            <a:ext cx="4900000" cy="205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750">
                <a:solidFill>
                  <a:srgbClr val="1F2937"/>
                </a:solidFill>
              </a:rPr>
              <a:t>代码主入口</a:t>
            </a:r>
            <a:endParaRPr lang="zh-CN" sz="1750"/>
          </a:p>
          <a:p>
            <a:pPr algn="l"/>
            <a:r>
              <a:rPr lang="zh-CN" sz="1750">
                <a:solidFill>
                  <a:srgbClr val="1F2937"/>
                </a:solidFill>
              </a:rPr>
              <a:t>rsl_rl/modules/actor_critic_parkour_moe.py</a:t>
            </a:r>
            <a:endParaRPr lang="zh-CN" sz="1750"/>
          </a:p>
          <a:p>
            <a:pPr algn="l"/>
            <a:r>
              <a:rPr lang="zh-CN" sz="1750">
                <a:solidFill>
                  <a:srgbClr val="1F2937"/>
                </a:solidFill>
              </a:rPr>
              <a:t>rsl_rl/algorithms/ppo_parkour_moe.py</a:t>
            </a:r>
            <a:endParaRPr lang="zh-CN" sz="1750"/>
          </a:p>
          <a:p>
            <a:pPr algn="l"/>
            <a:r>
              <a:rPr lang="zh-CN" sz="1750">
                <a:solidFill>
                  <a:srgbClr val="1F2937"/>
                </a:solidFill>
              </a:rPr>
              <a:t>rsl_rl/runners/onpolicyrunner_parkour_moe.py</a:t>
            </a:r>
            <a:endParaRPr lang="zh-CN" sz="1750"/>
          </a:p>
          <a:p>
            <a:pPr algn="l"/>
            <a:r>
              <a:rPr lang="zh-CN" sz="1750">
                <a:solidFill>
                  <a:srgbClr val="1F2937"/>
                </a:solidFill>
              </a:rPr>
              <a:t>legged_gym/envs/go2/go2_parkour_env.py</a:t>
            </a:r>
            <a:endParaRPr lang="zh-CN" sz="1750"/>
          </a:p>
        </p:txBody>
      </p:sp>
      <p:sp>
        <p:nvSpPr>
          <p:cNvPr id="7" name="box"/>
          <p:cNvSpPr txBox="1"/>
          <p:nvPr/>
        </p:nvSpPr>
        <p:spPr>
          <a:xfrm>
            <a:off x="6280000" y="2480000"/>
            <a:ext cx="5150000" cy="205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750">
                <a:solidFill>
                  <a:srgbClr val="1F2937"/>
                </a:solidFill>
              </a:rPr>
              <a:t>设计目标</a:t>
            </a:r>
            <a:endParaRPr lang="zh-CN" sz="1750"/>
          </a:p>
          <a:p>
            <a:pPr algn="l"/>
            <a:r>
              <a:rPr lang="zh-CN" sz="1750">
                <a:solidFill>
                  <a:srgbClr val="1F2937"/>
                </a:solidFill>
              </a:rPr>
              <a:t>1. 多地形 parkour 下的中间状态建模</a:t>
            </a:r>
            <a:endParaRPr lang="zh-CN" sz="1750"/>
          </a:p>
          <a:p>
            <a:pPr algn="l"/>
            <a:r>
              <a:rPr lang="zh-CN" sz="1750">
                <a:solidFill>
                  <a:srgbClr val="1F2937"/>
                </a:solidFill>
              </a:rPr>
              <a:t>2. vision on / off 之间可平滑切换</a:t>
            </a:r>
            <a:endParaRPr lang="zh-CN" sz="1750"/>
          </a:p>
          <a:p>
            <a:pPr algn="l"/>
            <a:r>
              <a:rPr lang="zh-CN" sz="1750">
                <a:solidFill>
                  <a:srgbClr val="1F2937"/>
                </a:solidFill>
              </a:rPr>
              <a:t>3. 训练期到部署期的结构一致性</a:t>
            </a:r>
            <a:endParaRPr lang="zh-CN" sz="1750"/>
          </a:p>
          <a:p>
            <a:pPr algn="l"/>
            <a:r>
              <a:rPr lang="zh-CN" sz="1750">
                <a:solidFill>
                  <a:srgbClr val="1F2937"/>
                </a:solidFill>
              </a:rPr>
              <a:t>4. 在 easy terrain 上保留 blind fallback 能力</a:t>
            </a:r>
            <a:endParaRPr lang="zh-CN" sz="1750"/>
          </a:p>
        </p:txBody>
      </p:sp>
      <p:sp>
        <p:nvSpPr>
          <p:cNvPr id="8" name="box"/>
          <p:cNvSpPr txBox="1"/>
          <p:nvPr/>
        </p:nvSpPr>
        <p:spPr>
          <a:xfrm>
            <a:off x="720000" y="5030000"/>
            <a:ext cx="10750000" cy="76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700" b="1">
                <a:solidFill>
                  <a:srgbClr val="1F2937"/>
                </a:solidFill>
              </a:rPr>
              <a:t>一句话理解：这版实现本质上是“分层感知控制系统”，不是简单的 PPO + depth concat。</a:t>
            </a:r>
            <a:endParaRPr lang="zh-CN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02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1. 总体分层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整套系统不是普通 PPO 加深度拼接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20000"/>
            <a:ext cx="1750000" cy="64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1">
                <a:solidFill>
                  <a:srgbClr val="1F2937"/>
                </a:solidFill>
              </a:rPr>
              <a:t>Environment</a:t>
            </a:r>
            <a:endParaRPr lang="zh-CN" sz="1700"/>
          </a:p>
        </p:txBody>
      </p:sp>
      <p:sp>
        <p:nvSpPr>
          <p:cNvPr id="6" name="arrow"/>
          <p:cNvSpPr txBox="1"/>
          <p:nvPr/>
        </p:nvSpPr>
        <p:spPr>
          <a:xfrm>
            <a:off x="2590000" y="1900000"/>
            <a:ext cx="320000" cy="26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600" b="1">
                <a:solidFill>
                  <a:srgbClr val="C65D2C"/>
                </a:solidFill>
              </a:rPr>
              <a:t>→</a:t>
            </a:r>
            <a:endParaRPr lang="zh-CN" sz="2600"/>
          </a:p>
        </p:txBody>
      </p:sp>
      <p:sp>
        <p:nvSpPr>
          <p:cNvPr id="7" name="box"/>
          <p:cNvSpPr txBox="1"/>
          <p:nvPr/>
        </p:nvSpPr>
        <p:spPr>
          <a:xfrm>
            <a:off x="2730000" y="1720000"/>
            <a:ext cx="1750000" cy="6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1">
                <a:solidFill>
                  <a:srgbClr val="1F2937"/>
                </a:solidFill>
              </a:rPr>
              <a:t>Runner</a:t>
            </a:r>
            <a:endParaRPr lang="zh-CN" sz="1700"/>
          </a:p>
        </p:txBody>
      </p:sp>
      <p:sp>
        <p:nvSpPr>
          <p:cNvPr id="8" name="arrow"/>
          <p:cNvSpPr txBox="1"/>
          <p:nvPr/>
        </p:nvSpPr>
        <p:spPr>
          <a:xfrm>
            <a:off x="4600000" y="1900000"/>
            <a:ext cx="320000" cy="26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600" b="1">
                <a:solidFill>
                  <a:srgbClr val="C65D2C"/>
                </a:solidFill>
              </a:rPr>
              <a:t>→</a:t>
            </a:r>
            <a:endParaRPr lang="zh-CN" sz="2600"/>
          </a:p>
        </p:txBody>
      </p:sp>
      <p:sp>
        <p:nvSpPr>
          <p:cNvPr id="9" name="box"/>
          <p:cNvSpPr txBox="1"/>
          <p:nvPr/>
        </p:nvSpPr>
        <p:spPr>
          <a:xfrm>
            <a:off x="4740000" y="1720000"/>
            <a:ext cx="1750000" cy="64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1">
                <a:solidFill>
                  <a:srgbClr val="1F2937"/>
                </a:solidFill>
              </a:rPr>
              <a:t>Estimator</a:t>
            </a:r>
            <a:endParaRPr lang="zh-CN" sz="1700"/>
          </a:p>
        </p:txBody>
      </p:sp>
      <p:sp>
        <p:nvSpPr>
          <p:cNvPr id="10" name="arrow"/>
          <p:cNvSpPr txBox="1"/>
          <p:nvPr/>
        </p:nvSpPr>
        <p:spPr>
          <a:xfrm>
            <a:off x="6610000" y="1900000"/>
            <a:ext cx="320000" cy="26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600" b="1">
                <a:solidFill>
                  <a:srgbClr val="C65D2C"/>
                </a:solidFill>
              </a:rPr>
              <a:t>→</a:t>
            </a:r>
            <a:endParaRPr lang="zh-CN" sz="2600"/>
          </a:p>
        </p:txBody>
      </p:sp>
      <p:sp>
        <p:nvSpPr>
          <p:cNvPr id="11" name="box"/>
          <p:cNvSpPr txBox="1"/>
          <p:nvPr/>
        </p:nvSpPr>
        <p:spPr>
          <a:xfrm>
            <a:off x="6750000" y="1720000"/>
            <a:ext cx="1750000" cy="64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1">
                <a:solidFill>
                  <a:srgbClr val="1F2937"/>
                </a:solidFill>
              </a:rPr>
              <a:t>Actor/Critic</a:t>
            </a:r>
            <a:endParaRPr lang="zh-CN" sz="1700"/>
          </a:p>
        </p:txBody>
      </p:sp>
      <p:sp>
        <p:nvSpPr>
          <p:cNvPr id="12" name="arrow"/>
          <p:cNvSpPr txBox="1"/>
          <p:nvPr/>
        </p:nvSpPr>
        <p:spPr>
          <a:xfrm>
            <a:off x="8620000" y="1900000"/>
            <a:ext cx="320000" cy="26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600" b="1">
                <a:solidFill>
                  <a:srgbClr val="C65D2C"/>
                </a:solidFill>
              </a:rPr>
              <a:t>→</a:t>
            </a:r>
            <a:endParaRPr lang="zh-CN" sz="2600"/>
          </a:p>
        </p:txBody>
      </p:sp>
      <p:sp>
        <p:nvSpPr>
          <p:cNvPr id="13" name="box"/>
          <p:cNvSpPr txBox="1"/>
          <p:nvPr/>
        </p:nvSpPr>
        <p:spPr>
          <a:xfrm>
            <a:off x="8760000" y="1720000"/>
            <a:ext cx="1750000" cy="64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1">
                <a:solidFill>
                  <a:srgbClr val="1F2937"/>
                </a:solidFill>
              </a:rPr>
              <a:t>PPO / Deploy</a:t>
            </a:r>
            <a:endParaRPr lang="zh-CN" sz="1700"/>
          </a:p>
        </p:txBody>
      </p:sp>
      <p:sp>
        <p:nvSpPr>
          <p:cNvPr id="14" name="box"/>
          <p:cNvSpPr txBox="1"/>
          <p:nvPr/>
        </p:nvSpPr>
        <p:spPr>
          <a:xfrm>
            <a:off x="720000" y="2830000"/>
            <a:ext cx="5050000" cy="215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它解决什么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1. 把高频控制和低频视觉估计解耦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2. 把复杂地形感知压成 actor 可消费的紧凑状态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3. 把视觉失效显式纳入训练闭环，而不是交给数据分布碰运气</a:t>
            </a:r>
            <a:endParaRPr lang="zh-CN" sz="1850"/>
          </a:p>
        </p:txBody>
      </p:sp>
      <p:sp>
        <p:nvSpPr>
          <p:cNvPr id="15" name="box"/>
          <p:cNvSpPr txBox="1"/>
          <p:nvPr/>
        </p:nvSpPr>
        <p:spPr>
          <a:xfrm>
            <a:off x="6150000" y="2830000"/>
            <a:ext cx="5320000" cy="215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设计思路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环境负责产生 obs / privileged obs / proxy depth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runner 负责 history、mask、SwAV window 和训练节奏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estimator 负责多模态建模与 mcp_code 压缩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actor/critic 负责决策与价值评估</a:t>
            </a:r>
            <a:endParaRPr lang="zh-CN" sz="1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03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2. 输入与维度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关键张量都比较固定，结构也很清晰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900000"/>
            <a:ext cx="2930000" cy="118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900" b="1">
                <a:solidFill>
                  <a:srgbClr val="1F2937"/>
                </a:solidFill>
              </a:rPr>
              <a:t>Actor obs</a:t>
            </a:r>
            <a:endParaRPr lang="zh-CN" sz="1900"/>
          </a:p>
          <a:p>
            <a:pPr algn="ctr"/>
            <a:r>
              <a:rPr lang="zh-CN" sz="1900" b="1">
                <a:solidFill>
                  <a:srgbClr val="1F2937"/>
                </a:solidFill>
              </a:rPr>
              <a:t>45</a:t>
            </a:r>
            <a:endParaRPr lang="zh-CN" sz="1900"/>
          </a:p>
        </p:txBody>
      </p:sp>
      <p:sp>
        <p:nvSpPr>
          <p:cNvPr id="6" name="box"/>
          <p:cNvSpPr txBox="1"/>
          <p:nvPr/>
        </p:nvSpPr>
        <p:spPr>
          <a:xfrm>
            <a:off x="4150000" y="1900000"/>
            <a:ext cx="2930000" cy="118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50" b="1">
                <a:solidFill>
                  <a:srgbClr val="1F2937"/>
                </a:solidFill>
              </a:rPr>
              <a:t>Critic obs</a:t>
            </a:r>
            <a:endParaRPr lang="zh-CN" sz="1750"/>
          </a:p>
          <a:p>
            <a:pPr algn="ctr"/>
            <a:r>
              <a:rPr lang="zh-CN" sz="1750" b="1">
                <a:solidFill>
                  <a:srgbClr val="1F2937"/>
                </a:solidFill>
              </a:rPr>
              <a:t>267</a:t>
            </a:r>
            <a:endParaRPr lang="zh-CN" sz="1750"/>
          </a:p>
        </p:txBody>
      </p:sp>
      <p:sp>
        <p:nvSpPr>
          <p:cNvPr id="7" name="box"/>
          <p:cNvSpPr txBox="1"/>
          <p:nvPr/>
        </p:nvSpPr>
        <p:spPr>
          <a:xfrm>
            <a:off x="7580000" y="1900000"/>
            <a:ext cx="2930000" cy="118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900" b="1">
                <a:solidFill>
                  <a:srgbClr val="1F2937"/>
                </a:solidFill>
              </a:rPr>
              <a:t>History</a:t>
            </a:r>
            <a:endParaRPr lang="zh-CN" sz="1900"/>
          </a:p>
          <a:p>
            <a:pPr algn="ctr"/>
            <a:r>
              <a:rPr lang="zh-CN" sz="1900" b="1">
                <a:solidFill>
                  <a:srgbClr val="1F2937"/>
                </a:solidFill>
              </a:rPr>
              <a:t>10 x 45 = 450</a:t>
            </a:r>
            <a:endParaRPr lang="zh-CN" sz="1900"/>
          </a:p>
        </p:txBody>
      </p:sp>
      <p:sp>
        <p:nvSpPr>
          <p:cNvPr id="8" name="box"/>
          <p:cNvSpPr txBox="1"/>
          <p:nvPr/>
        </p:nvSpPr>
        <p:spPr>
          <a:xfrm>
            <a:off x="720000" y="3520000"/>
            <a:ext cx="2930000" cy="118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50" b="1">
                <a:solidFill>
                  <a:srgbClr val="1F2937"/>
                </a:solidFill>
              </a:rPr>
              <a:t>Depth</a:t>
            </a:r>
            <a:endParaRPr lang="zh-CN" sz="1750"/>
          </a:p>
          <a:p>
            <a:pPr algn="ctr"/>
            <a:r>
              <a:rPr lang="zh-CN" sz="1750" b="1">
                <a:solidFill>
                  <a:srgbClr val="1F2937"/>
                </a:solidFill>
              </a:rPr>
              <a:t>2 x 58 x 87</a:t>
            </a:r>
            <a:endParaRPr lang="zh-CN" sz="1750"/>
          </a:p>
        </p:txBody>
      </p:sp>
      <p:sp>
        <p:nvSpPr>
          <p:cNvPr id="9" name="box"/>
          <p:cNvSpPr txBox="1"/>
          <p:nvPr/>
        </p:nvSpPr>
        <p:spPr>
          <a:xfrm>
            <a:off x="4150000" y="3520000"/>
            <a:ext cx="2930000" cy="118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900" b="1">
                <a:solidFill>
                  <a:srgbClr val="1F2937"/>
                </a:solidFill>
              </a:rPr>
              <a:t>MCP code</a:t>
            </a:r>
            <a:endParaRPr lang="zh-CN" sz="1900"/>
          </a:p>
          <a:p>
            <a:pPr algn="ctr"/>
            <a:r>
              <a:rPr lang="zh-CN" sz="1900" b="1">
                <a:solidFill>
                  <a:srgbClr val="1F2937"/>
                </a:solidFill>
              </a:rPr>
              <a:t>55</a:t>
            </a:r>
            <a:endParaRPr lang="zh-CN" sz="1900"/>
          </a:p>
        </p:txBody>
      </p:sp>
      <p:sp>
        <p:nvSpPr>
          <p:cNvPr id="10" name="box"/>
          <p:cNvSpPr txBox="1"/>
          <p:nvPr/>
        </p:nvSpPr>
        <p:spPr>
          <a:xfrm>
            <a:off x="7580000" y="3520000"/>
            <a:ext cx="2930000" cy="118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50" b="1">
                <a:solidFill>
                  <a:srgbClr val="1F2937"/>
                </a:solidFill>
              </a:rPr>
              <a:t>Action</a:t>
            </a:r>
            <a:endParaRPr lang="zh-CN" sz="1750"/>
          </a:p>
          <a:p>
            <a:pPr algn="ctr"/>
            <a:r>
              <a:rPr lang="zh-CN" sz="1750" b="1">
                <a:solidFill>
                  <a:srgbClr val="1F2937"/>
                </a:solidFill>
              </a:rPr>
              <a:t>12</a:t>
            </a:r>
            <a:endParaRPr lang="zh-CN" sz="1750"/>
          </a:p>
        </p:txBody>
      </p:sp>
      <p:sp>
        <p:nvSpPr>
          <p:cNvPr id="11" name="box"/>
          <p:cNvSpPr txBox="1"/>
          <p:nvPr/>
        </p:nvSpPr>
        <p:spPr>
          <a:xfrm>
            <a:off x="720000" y="5180000"/>
            <a:ext cx="10780000" cy="80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50" b="1">
                <a:solidFill>
                  <a:srgbClr val="1F2937"/>
                </a:solidFill>
              </a:rPr>
              <a:t>actor_input = mcp_code(55) + obs_now(45) = 100；critic_input = privileged_obs(267)</a:t>
            </a:r>
            <a:endParaRPr lang="zh-CN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04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3. 环境与观测来源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Parkour 环境把可部署观测、特权监督和 proxy depth 分开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20000"/>
            <a:ext cx="5050000" cy="185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Actor 当前观测 45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3 base_ang_vel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3 projected_gravity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3 commands[:3]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12 dof_pos error + 12 dof_vel + 12 previous actions</a:t>
            </a:r>
            <a:endParaRPr lang="zh-CN" sz="1850"/>
          </a:p>
        </p:txBody>
      </p:sp>
      <p:sp>
        <p:nvSpPr>
          <p:cNvPr id="6" name="box"/>
          <p:cNvSpPr txBox="1"/>
          <p:nvPr/>
        </p:nvSpPr>
        <p:spPr>
          <a:xfrm>
            <a:off x="6150000" y="1720000"/>
            <a:ext cx="5320000" cy="185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Critic 特权观测 267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在 45 维基础上追加 base_lin_vel、foot contact、torque、acc、height map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Go2ParkourRobot 又在尾部追加 4 维 feet heights</a:t>
            </a:r>
            <a:endParaRPr lang="zh-CN" sz="1850"/>
          </a:p>
        </p:txBody>
      </p:sp>
      <p:sp>
        <p:nvSpPr>
          <p:cNvPr id="7" name="box"/>
          <p:cNvSpPr txBox="1"/>
          <p:nvPr/>
        </p:nvSpPr>
        <p:spPr>
          <a:xfrm>
            <a:off x="720000" y="3900000"/>
            <a:ext cx="5050000" cy="175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监督切片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v_t = privileged_obs[0:3]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m_t = privileged_obs[76:263]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h_t = privileged_obs[263:267]</a:t>
            </a:r>
            <a:endParaRPr lang="zh-CN" sz="1850"/>
          </a:p>
        </p:txBody>
      </p:sp>
      <p:sp>
        <p:nvSpPr>
          <p:cNvPr id="8" name="box"/>
          <p:cNvSpPr txBox="1"/>
          <p:nvPr/>
        </p:nvSpPr>
        <p:spPr>
          <a:xfrm>
            <a:off x="6150000" y="3900000"/>
            <a:ext cx="5320000" cy="175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运行策略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proxy depth 由高度场 raycast 合成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camera_update_interval = 5 env steps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easy terrain 每 20 次 iteration 翻转一次 vision mask</a:t>
            </a:r>
            <a:endParaRPr lang="zh-CN" sz="1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05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4. Estimator Core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多模态输入先被 token 化，再交给轻量 Transformer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50000"/>
            <a:ext cx="3250000" cy="135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Image branch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2 x 58 x 87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Conv -&gt; Conv -&gt; Conv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64 x 8 x 11 -&gt; 88 tokens</a:t>
            </a:r>
            <a:endParaRPr lang="zh-CN" sz="1850"/>
          </a:p>
        </p:txBody>
      </p:sp>
      <p:sp>
        <p:nvSpPr>
          <p:cNvPr id="6" name="box"/>
          <p:cNvSpPr txBox="1"/>
          <p:nvPr/>
        </p:nvSpPr>
        <p:spPr>
          <a:xfrm>
            <a:off x="4470000" y="1750000"/>
            <a:ext cx="3250000" cy="135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Proprio branch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history = 10 x 45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MLP per step -&gt; 64 dim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10 proprio tokens</a:t>
            </a:r>
            <a:endParaRPr lang="zh-CN" sz="1850"/>
          </a:p>
        </p:txBody>
      </p:sp>
      <p:sp>
        <p:nvSpPr>
          <p:cNvPr id="7" name="box"/>
          <p:cNvSpPr txBox="1"/>
          <p:nvPr/>
        </p:nvSpPr>
        <p:spPr>
          <a:xfrm>
            <a:off x="8220000" y="1750000"/>
            <a:ext cx="2750000" cy="135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Vision flag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1 -&gt; 64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单独变成一个 token</a:t>
            </a:r>
            <a:endParaRPr lang="zh-CN" sz="1850"/>
          </a:p>
        </p:txBody>
      </p:sp>
      <p:sp>
        <p:nvSpPr>
          <p:cNvPr id="8" name="box"/>
          <p:cNvSpPr txBox="1"/>
          <p:nvPr/>
        </p:nvSpPr>
        <p:spPr>
          <a:xfrm>
            <a:off x="720000" y="3520000"/>
            <a:ext cx="10250000" cy="192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88 image tokens + 10 proprio tokens + 1 vision token = 99 tokens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再叠加 2D/1D sincos 位置编码和模态类型编码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当 mask_vision = False 时，image tokens 会被同时清零并标成 padding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随后送入 TransformerEncoder(d_model=64, nhead=4, num_layers=1)</a:t>
            </a:r>
            <a:endParaRPr lang="zh-CN" sz="1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06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5. Pooling / Router / Experts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共享上下文、专家特异关注和共享记忆共同决定状态更新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20000"/>
            <a:ext cx="4950000" cy="15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Shared pooling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1 个 shared_pool_query 从全部有效 tokens 中聚合出 context_feature [B, 64]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它是 router、shared_state update 和所有预测头的公共上下文</a:t>
            </a:r>
            <a:endParaRPr lang="zh-CN" sz="1850"/>
          </a:p>
        </p:txBody>
      </p:sp>
      <p:sp>
        <p:nvSpPr>
          <p:cNvPr id="6" name="box"/>
          <p:cNvSpPr txBox="1"/>
          <p:nvPr/>
        </p:nvSpPr>
        <p:spPr>
          <a:xfrm>
            <a:off x="6000000" y="1720000"/>
            <a:ext cx="5470000" cy="150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Expert pooling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4 个 expert_pool_queries 得到 expert_pooled_features [B, 4, 64]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每个 expert 在共享上下文上再加一层自己的关注偏置</a:t>
            </a:r>
            <a:endParaRPr lang="zh-CN" sz="1850"/>
          </a:p>
        </p:txBody>
      </p:sp>
      <p:sp>
        <p:nvSpPr>
          <p:cNvPr id="7" name="box"/>
          <p:cNvSpPr txBox="1"/>
          <p:nvPr/>
        </p:nvSpPr>
        <p:spPr>
          <a:xfrm>
            <a:off x="720000" y="3600000"/>
            <a:ext cx="4950000" cy="190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Router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输入 = obs_now(45) + vision_flag(1) + context_feature(64) + shared_state_prev(64)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174 -&gt; 128 -&gt; 4 -&gt; Softmax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输出每个 expert 当前时刻的 gating_weights</a:t>
            </a:r>
            <a:endParaRPr lang="zh-CN" sz="1850"/>
          </a:p>
        </p:txBody>
      </p:sp>
      <p:sp>
        <p:nvSpPr>
          <p:cNvPr id="8" name="box"/>
          <p:cNvSpPr txBox="1"/>
          <p:nvPr/>
        </p:nvSpPr>
        <p:spPr>
          <a:xfrm>
            <a:off x="6000000" y="3600000"/>
            <a:ext cx="5470000" cy="190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ReadWriteExpert + shared_state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read(shared_state) -&gt; hidden_init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GRUCell(expert_context, hidden_init) -&gt; hidden_state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write(hidden_state) -&gt; shared_delta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按 gate 加权后再用 shared_state_updater 做统一更新</a:t>
            </a:r>
            <a:endParaRPr lang="zh-CN" sz="1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07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6. Heads 与 MCP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Estimator 同时做显式状态估计、latent 建模和控制压缩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5150000" cy="19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预测头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v_t : 3 维线速度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h_tf : 4 维 feet heights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z_mu / z_logvar : 16 维变分 latent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z_tm : 32 维 terrain latent</a:t>
            </a:r>
            <a:endParaRPr lang="zh-CN" sz="1850"/>
          </a:p>
        </p:txBody>
      </p:sp>
      <p:sp>
        <p:nvSpPr>
          <p:cNvPr id="6" name="box"/>
          <p:cNvSpPr txBox="1"/>
          <p:nvPr/>
        </p:nvSpPr>
        <p:spPr>
          <a:xfrm>
            <a:off x="6120000" y="1760000"/>
            <a:ext cx="5350000" cy="190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解码器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decoder_obs : [v_t, h_tf, z_t] -&gt; o_hat(45)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decoder_map : z_tm -&gt; m_hat(187)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它们分别监督 next proprio 和 terrain map</a:t>
            </a:r>
            <a:endParaRPr lang="zh-CN" sz="1850"/>
          </a:p>
        </p:txBody>
      </p:sp>
      <p:sp>
        <p:nvSpPr>
          <p:cNvPr id="7" name="box"/>
          <p:cNvSpPr txBox="1"/>
          <p:nvPr/>
        </p:nvSpPr>
        <p:spPr>
          <a:xfrm>
            <a:off x="720000" y="4070000"/>
            <a:ext cx="10750000" cy="150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 b="1">
                <a:solidFill>
                  <a:srgbClr val="1F2937"/>
                </a:solidFill>
              </a:rPr>
              <a:t>mcp_code = cat(v_t, h_tf, z_mu, z_tm) = 55</a:t>
            </a:r>
            <a:endParaRPr lang="zh-CN" sz="1800"/>
          </a:p>
          <a:p>
            <a:pPr algn="l"/>
            <a:r>
              <a:rPr lang="zh-CN" sz="1800" b="1">
                <a:solidFill>
                  <a:srgbClr val="1F2937"/>
                </a:solidFill>
              </a:rPr>
              <a:t>actor 只消费这个紧凑控制表征，而不会直接看 raw depth 或 10 步历史</a:t>
            </a:r>
            <a:endParaRPr lang="zh-CN" sz="1800"/>
          </a:p>
          <a:p>
            <a:pPr algn="l"/>
            <a:r>
              <a:rPr lang="zh-CN" sz="1800" b="1">
                <a:solidFill>
                  <a:srgbClr val="1F2937"/>
                </a:solidFill>
              </a:rPr>
              <a:t>z_logvar、o_hat、m_hat 参与训练监督，但不直接进入 actor 输入</a:t>
            </a:r>
            <a:endParaRPr lang="zh-CN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08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7. Actor-Critic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Actor 看部署输入，Critic 看特权输入，标准不对称训练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5050000" cy="205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Actor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输入 = mcp_code(55) + obs_now(45) = 100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MLP: 100 -&gt; 512 -&gt; 256 -&gt; 128 -&gt; 12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输出 action mean，并配合可学习 std 形成 Normal 分布</a:t>
            </a:r>
            <a:endParaRPr lang="zh-CN" sz="1850"/>
          </a:p>
        </p:txBody>
      </p:sp>
      <p:sp>
        <p:nvSpPr>
          <p:cNvPr id="6" name="box"/>
          <p:cNvSpPr txBox="1"/>
          <p:nvPr/>
        </p:nvSpPr>
        <p:spPr>
          <a:xfrm>
            <a:off x="6150000" y="1760000"/>
            <a:ext cx="5320000" cy="205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Critic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输入 = privileged_obs(267)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MLP: 267 -&gt; 512 -&gt; 256 -&gt; 128 -&gt; 1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不额外依赖 mcp_code，完全站在训练期特权视角做价值评估</a:t>
            </a:r>
            <a:endParaRPr lang="zh-CN" sz="1850"/>
          </a:p>
        </p:txBody>
      </p:sp>
      <p:sp>
        <p:nvSpPr>
          <p:cNvPr id="7" name="box"/>
          <p:cNvSpPr txBox="1"/>
          <p:nvPr/>
        </p:nvSpPr>
        <p:spPr>
          <a:xfrm>
            <a:off x="720000" y="4260000"/>
            <a:ext cx="10750000" cy="135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700" b="1">
                <a:solidFill>
                  <a:srgbClr val="1F2937"/>
                </a:solidFill>
              </a:rPr>
              <a:t>为什么这样分：actor 只学部署时真的拿得到的信息；critic 用 privileged obs 提升 value 估计质量；rollout storage 还会显式保存 mcp_code 供 PPO update 复用。</a:t>
            </a:r>
            <a:endParaRPr lang="zh-CN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09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8. 训练数据流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Estimator 在采样阶段更新，PPO 在 rollout 结束后更新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20000"/>
            <a:ext cx="7550000" cy="3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700">
                <a:solidFill>
                  <a:srgbClr val="1F2937"/>
                </a:solidFill>
              </a:rPr>
              <a:t>1. reset env，初始化 obs / privileged_obs / history</a:t>
            </a:r>
            <a:endParaRPr lang="zh-CN" sz="1700"/>
          </a:p>
          <a:p>
            <a:pPr algn="l"/>
            <a:r>
              <a:rPr lang="zh-CN" sz="1700">
                <a:solidFill>
                  <a:srgbClr val="1F2937"/>
                </a:solidFill>
              </a:rPr>
              <a:t>2. 若 common_step_counter % camera_update_interval == 0，则刷新 estimator</a:t>
            </a:r>
            <a:endParaRPr lang="zh-CN" sz="1700"/>
          </a:p>
          <a:p>
            <a:pPr algn="l"/>
            <a:r>
              <a:rPr lang="zh-CN" sz="1700">
                <a:solidFill>
                  <a:srgbClr val="1F2937"/>
                </a:solidFill>
              </a:rPr>
              <a:t>3. estimator 前向得到 est_out，同时 depth autoencoder 做一轮重建更新</a:t>
            </a:r>
            <a:endParaRPr lang="zh-CN" sz="1700"/>
          </a:p>
          <a:p>
            <a:pPr algn="l"/>
            <a:r>
              <a:rPr lang="zh-CN" sz="1700">
                <a:solidFill>
                  <a:srgbClr val="1F2937"/>
                </a:solidFill>
              </a:rPr>
              <a:t>4. actor 用当前 mcp_code 采样动作，env.step 后更新 history 与 SwAV window</a:t>
            </a:r>
            <a:endParaRPr lang="zh-CN" sz="1700"/>
          </a:p>
          <a:p>
            <a:pPr algn="l"/>
            <a:r>
              <a:rPr lang="zh-CN" sz="1700">
                <a:solidFill>
                  <a:srgbClr val="1F2937"/>
                </a:solidFill>
              </a:rPr>
              <a:t>5. 若本步刷新过 estimator，再用 vt/ht/mt + next obs 做一轮 estimator update</a:t>
            </a:r>
            <a:endParaRPr lang="zh-CN" sz="1700"/>
          </a:p>
          <a:p>
            <a:pPr algn="l"/>
            <a:r>
              <a:rPr lang="zh-CN" sz="1700">
                <a:solidFill>
                  <a:srgbClr val="1F2937"/>
                </a:solidFill>
              </a:rPr>
              <a:t>6. 24 个 step 采完后，critic 计算 bootstrap value，再做 PPO actor-critic update</a:t>
            </a:r>
            <a:endParaRPr lang="zh-CN" sz="1700"/>
          </a:p>
        </p:txBody>
      </p:sp>
      <p:sp>
        <p:nvSpPr>
          <p:cNvPr id="6" name="box"/>
          <p:cNvSpPr txBox="1"/>
          <p:nvPr/>
        </p:nvSpPr>
        <p:spPr>
          <a:xfrm>
            <a:off x="8640000" y="1720000"/>
            <a:ext cx="2830000" cy="100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50" b="1">
                <a:solidFill>
                  <a:srgbClr val="1F2937"/>
                </a:solidFill>
              </a:rPr>
              <a:t>num_steps_per_env</a:t>
            </a:r>
            <a:endParaRPr lang="zh-CN" sz="1850"/>
          </a:p>
          <a:p>
            <a:pPr algn="ctr"/>
            <a:r>
              <a:rPr lang="zh-CN" sz="1850" b="1">
                <a:solidFill>
                  <a:srgbClr val="1F2937"/>
                </a:solidFill>
              </a:rPr>
              <a:t>24</a:t>
            </a:r>
            <a:endParaRPr lang="zh-CN" sz="1850"/>
          </a:p>
        </p:txBody>
      </p:sp>
      <p:sp>
        <p:nvSpPr>
          <p:cNvPr id="7" name="box"/>
          <p:cNvSpPr txBox="1"/>
          <p:nvPr/>
        </p:nvSpPr>
        <p:spPr>
          <a:xfrm>
            <a:off x="8640000" y="2980000"/>
            <a:ext cx="2830000" cy="100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50" b="1">
                <a:solidFill>
                  <a:srgbClr val="1F2937"/>
                </a:solidFill>
              </a:rPr>
              <a:t>camera_update_interval</a:t>
            </a:r>
            <a:endParaRPr lang="zh-CN" sz="1850"/>
          </a:p>
          <a:p>
            <a:pPr algn="ctr"/>
            <a:r>
              <a:rPr lang="zh-CN" sz="1850" b="1">
                <a:solidFill>
                  <a:srgbClr val="1F2937"/>
                </a:solidFill>
              </a:rPr>
              <a:t>5</a:t>
            </a:r>
            <a:endParaRPr lang="zh-CN" sz="1850"/>
          </a:p>
        </p:txBody>
      </p:sp>
      <p:sp>
        <p:nvSpPr>
          <p:cNvPr id="8" name="box"/>
          <p:cNvSpPr txBox="1"/>
          <p:nvPr/>
        </p:nvSpPr>
        <p:spPr>
          <a:xfrm>
            <a:off x="8640000" y="4240000"/>
            <a:ext cx="2830000" cy="124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50" b="1">
                <a:solidFill>
                  <a:srgbClr val="1F2937"/>
                </a:solidFill>
              </a:rPr>
              <a:t>vision_toggle_interval</a:t>
            </a:r>
            <a:endParaRPr lang="zh-CN" sz="1850"/>
          </a:p>
          <a:p>
            <a:pPr algn="ctr"/>
            <a:r>
              <a:rPr lang="zh-CN" sz="1850" b="1">
                <a:solidFill>
                  <a:srgbClr val="1F2937"/>
                </a:solidFill>
              </a:rPr>
              <a:t>20</a:t>
            </a:r>
            <a:endParaRPr lang="zh-CN" sz="1850"/>
          </a:p>
          <a:p>
            <a:pPr algn="ctr"/>
            <a:r>
              <a:rPr lang="zh-CN" sz="1850" b="1">
                <a:solidFill>
                  <a:srgbClr val="1F2937"/>
                </a:solidFill>
              </a:rPr>
              <a:t>仅对 easy terrain 迭代翻转</a:t>
            </a:r>
            <a:endParaRPr lang="zh-CN" sz="1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10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9. Loss 设计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三类优化目标分别服务于回报、状态结构和视觉可靠性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820000"/>
            <a:ext cx="3250000" cy="285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PPO 主损失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surrogate loss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value loss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entropy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adaptive KL 调节 learning rate</a:t>
            </a:r>
            <a:endParaRPr lang="zh-CN" sz="1850"/>
          </a:p>
        </p:txBody>
      </p:sp>
      <p:sp>
        <p:nvSpPr>
          <p:cNvPr id="6" name="box"/>
          <p:cNvSpPr txBox="1"/>
          <p:nvPr/>
        </p:nvSpPr>
        <p:spPr>
          <a:xfrm>
            <a:off x="4450000" y="1820000"/>
            <a:ext cx="3250000" cy="285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Estimator 损失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vt / ht / mt MSE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next proprio reconstruction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z KL warmup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load balance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terrain SwAV warmup</a:t>
            </a:r>
            <a:endParaRPr lang="zh-CN" sz="1850"/>
          </a:p>
        </p:txBody>
      </p:sp>
      <p:sp>
        <p:nvSpPr>
          <p:cNvPr id="7" name="box"/>
          <p:cNvSpPr txBox="1"/>
          <p:nvPr/>
        </p:nvSpPr>
        <p:spPr>
          <a:xfrm>
            <a:off x="8180000" y="1820000"/>
            <a:ext cx="3250000" cy="285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Depth AE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image reconstruction MSE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训练时做自监督视觉约束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推理时做 selector / blind fallback 判据</a:t>
            </a:r>
            <a:endParaRPr lang="zh-CN" sz="1850"/>
          </a:p>
        </p:txBody>
      </p:sp>
      <p:sp>
        <p:nvSpPr>
          <p:cNvPr id="8" name="box"/>
          <p:cNvSpPr txBox="1"/>
          <p:nvPr/>
        </p:nvSpPr>
        <p:spPr>
          <a:xfrm>
            <a:off x="720000" y="5100000"/>
            <a:ext cx="10710000" cy="62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1">
                <a:solidFill>
                  <a:srgbClr val="1F2937"/>
                </a:solidFill>
              </a:rPr>
              <a:t>actor-critic / estimator / depth autoencoder 使用三套分离 optimizer，减少目标互相污染。</a:t>
            </a:r>
            <a:endParaRPr lang="zh-CN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11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10. 推理与部署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推理时是低频 estimator + 高频 actor，并带视觉 selector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5000000" cy="21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推理 policy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1. done 时重置 estimator hidden state 和 window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2. 更新 proprio history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3. 到刷新周期时再跑 estimator，平时复用 latest_mcp_code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4. actor 直接用 latest_mcp_code + obs 输出动作</a:t>
            </a:r>
            <a:endParaRPr lang="zh-CN" sz="1850"/>
          </a:p>
        </p:txBody>
      </p:sp>
      <p:sp>
        <p:nvSpPr>
          <p:cNvPr id="6" name="box"/>
          <p:cNvSpPr txBox="1"/>
          <p:nvPr/>
        </p:nvSpPr>
        <p:spPr>
          <a:xfrm>
            <a:off x="6180000" y="1760000"/>
            <a:ext cx="5280000" cy="210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selector / blind fallback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easy terrain 上先用 depth autoencoder 估计 recon error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若 recon error &gt; selector_threshold，则 mask_vision = False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于是 estimator 自动切到非视觉 token 路径</a:t>
            </a:r>
            <a:endParaRPr lang="zh-CN" sz="1850"/>
          </a:p>
        </p:txBody>
      </p:sp>
      <p:sp>
        <p:nvSpPr>
          <p:cNvPr id="7" name="box"/>
          <p:cNvSpPr txBox="1"/>
          <p:nvPr/>
        </p:nvSpPr>
        <p:spPr>
          <a:xfrm>
            <a:off x="720000" y="4240000"/>
            <a:ext cx="10740000" cy="1320000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1D4ED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700" b="1">
                <a:solidFill>
                  <a:srgbClr val="1F2937"/>
                </a:solidFill>
              </a:rPr>
              <a:t>导出 bundle 会同时保存 actor_critic / estimator / depth_autoencoder 及其 cfg；MuJoCo 和真机侧适配器都按同一拓扑重建，因此训练部署链路高度一致。</a:t>
            </a:r>
            <a:endParaRPr lang="zh-CN"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10050000" y="120000"/>
            <a:ext cx="1700000" cy="110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0">
                <a:solidFill>
                  <a:srgbClr val="E7DDCE"/>
                </a:solidFill>
              </a:rPr>
              <a:t>12</a:t>
            </a:r>
            <a:endParaRPr lang="zh-CN" sz="18000"/>
          </a:p>
        </p:txBody>
      </p:sp>
      <p:sp>
        <p:nvSpPr>
          <p:cNvPr id="3" name="kicker"/>
          <p:cNvSpPr txBox="1"/>
          <p:nvPr/>
        </p:nvSpPr>
        <p:spPr>
          <a:xfrm>
            <a:off x="720000" y="260000"/>
            <a:ext cx="2600000" cy="360000"/>
          </a:xfrm>
          <a:prstGeom prst="roundRect">
            <a:avLst/>
          </a:prstGeom>
          <a:solidFill>
            <a:srgbClr val="C65D2C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</a:rPr>
              <a:t>11. 当前代码状态与结论</a:t>
            </a:r>
            <a:endParaRPr lang="zh-CN" sz="1300"/>
          </a:p>
        </p:txBody>
      </p:sp>
      <p:sp>
        <p:nvSpPr>
          <p:cNvPr id="4" name="title"/>
          <p:cNvSpPr txBox="1"/>
          <p:nvPr/>
        </p:nvSpPr>
        <p:spPr>
          <a:xfrm>
            <a:off x="720000" y="650000"/>
            <a:ext cx="9900000" cy="6200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600" b="1">
                <a:solidFill>
                  <a:srgbClr val="1F2937"/>
                </a:solidFill>
              </a:rPr>
              <a:t>这版实现已经形成完整骨架，但还保留一些待激活项</a:t>
            </a:r>
            <a:endParaRPr lang="zh-CN" sz="2600"/>
          </a:p>
        </p:txBody>
      </p:sp>
      <p:sp>
        <p:nvSpPr>
          <p:cNvPr id="5" name="box"/>
          <p:cNvSpPr txBox="1"/>
          <p:nvPr/>
        </p:nvSpPr>
        <p:spPr>
          <a:xfrm>
            <a:off x="720000" y="1760000"/>
            <a:ext cx="5050000" cy="25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65D2C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当前最有价值的设计点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感知与控制显式解耦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shared_state + read/write experts 让切换更平滑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easy terrain vision toggle + selector 形成 fallback 闭环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• 训练和部署共享一套 estimator / actor / selector</a:t>
            </a:r>
            <a:endParaRPr lang="zh-CN" sz="1850"/>
          </a:p>
        </p:txBody>
      </p:sp>
      <p:sp>
        <p:nvSpPr>
          <p:cNvPr id="6" name="box"/>
          <p:cNvSpPr txBox="1"/>
          <p:nvPr/>
        </p:nvSpPr>
        <p:spPr>
          <a:xfrm>
            <a:off x="6150000" y="1760000"/>
            <a:ext cx="5320000" cy="2520000"/>
          </a:xfrm>
          <a:prstGeom prst="roundRect">
            <a:avLst/>
          </a:prstGeom>
          <a:solidFill>
            <a:srgbClr val="F8E9D8"/>
          </a:solidFill>
          <a:ln w="12700">
            <a:solidFill>
              <a:srgbClr val="B45309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50">
                <a:solidFill>
                  <a:srgbClr val="1F2937"/>
                </a:solidFill>
              </a:rPr>
              <a:t>已定义但当前未生效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DefaultEstimator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shared_state_alpha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gate_smooth / cycle_consistency / vision_consistency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gt_mt_step、mcp_code_additional</a:t>
            </a:r>
            <a:endParaRPr lang="zh-CN" sz="1850"/>
          </a:p>
          <a:p>
            <a:pPr algn="l"/>
            <a:r>
              <a:rPr lang="zh-CN" sz="1850">
                <a:solidFill>
                  <a:srgbClr val="1F2937"/>
                </a:solidFill>
              </a:rPr>
              <a:t>fc_zt / map_unet / fc_zm_fine</a:t>
            </a:r>
            <a:endParaRPr lang="zh-CN" sz="1850"/>
          </a:p>
        </p:txBody>
      </p:sp>
      <p:sp>
        <p:nvSpPr>
          <p:cNvPr id="7" name="box"/>
          <p:cNvSpPr txBox="1"/>
          <p:nvPr/>
        </p:nvSpPr>
        <p:spPr>
          <a:xfrm>
            <a:off x="720000" y="4700000"/>
            <a:ext cx="10750000" cy="86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0F766E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50" b="1">
                <a:solidFill>
                  <a:srgbClr val="1F2937"/>
                </a:solidFill>
              </a:rPr>
              <a:t>最终结论：最新代码的本质是“层级化感知控制系统”，而不是简单的 PPO + depth concat。</a:t>
            </a:r>
            <a:endParaRPr lang="zh-CN" sz="1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ourTheme">
  <a:themeElements>
    <a:clrScheme name="ParkourColors">
      <a:dk1>
        <a:srgbClr val="1F2937"/>
      </a:dk1>
      <a:lt1>
        <a:srgbClr val="FFFFFF"/>
      </a:lt1>
      <a:dk2>
        <a:srgbClr val="111827"/>
      </a:dk2>
      <a:lt2>
        <a:srgbClr val="F8FAFC"/>
      </a:lt2>
      <a:accent1>
        <a:srgbClr val="C65D2C"/>
      </a:accent1>
      <a:accent2>
        <a:srgbClr val="0F766E"/>
      </a:accent2>
      <a:accent3>
        <a:srgbClr val="1D4ED8"/>
      </a:accent3>
      <a:accent4>
        <a:srgbClr val="B45309"/>
      </a:accent4>
      <a:accent5>
        <a:srgbClr val="7C3AED"/>
      </a:accent5>
      <a:accent6>
        <a:srgbClr val="BE185D"/>
      </a:accent6>
      <a:hlink>
        <a:srgbClr val="0563C1"/>
      </a:hlink>
      <a:folHlink>
        <a:srgbClr val="954F72"/>
      </a:folHlink>
    </a:clrScheme>
    <a:fontScheme name="Parkour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arkourFm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Custom</PresentationFormat>
  <Slides>12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12</vt:i4>
      </vt:variant>
    </vt:vector>
  </HeadingPairs>
  <TitlesOfParts>
    <vt:vector size="12" baseType="lpstr">
      <vt:lpstr>Parkour MoE Estimator-Actor-Critic</vt:lpstr>
      <vt:lpstr>整套系统不是普通 PPO 加深度拼接</vt:lpstr>
      <vt:lpstr>关键张量都比较固定，结构也很清晰</vt:lpstr>
      <vt:lpstr>Parkour 环境把可部署观测、特权监督和 proxy depth 分开</vt:lpstr>
      <vt:lpstr>多模态输入先被 token 化，再交给轻量 Transformer</vt:lpstr>
      <vt:lpstr>共享上下文、专家特异关注和共享记忆共同决定状态更新</vt:lpstr>
      <vt:lpstr>Estimator 同时做显式状态估计、latent 建模和控制压缩</vt:lpstr>
      <vt:lpstr>Actor 看部署输入，Critic 看特权输入，标准不对称训练</vt:lpstr>
      <vt:lpstr>Estimator 在采样阶段更新，PPO 在 rollout 结束后更新</vt:lpstr>
      <vt:lpstr>三类优化目标分别服务于回报、状态结构和视觉可靠性</vt:lpstr>
      <vt:lpstr>推理时是低频 estimator + 高频 actor，并带视觉 selector</vt:lpstr>
      <vt:lpstr>这版实现已经形成完整骨架，但还保留一些待激活项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Parkour MoE Estimator-Actor-Critic</dc:title>
  <dc:creator>Codex</dc:creator>
  <cp:lastModifiedBy>Codex</cp:lastModifiedBy>
  <dcterms:created xsi:type="dcterms:W3CDTF">2026-03-23T06:22:09Z</dcterms:created>
  <dcterms:modified xsi:type="dcterms:W3CDTF">2026-03-23T06:22:09Z</dcterms:modified>
</cp:coreProperties>
</file>