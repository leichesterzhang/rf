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815" r:id="rId3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BF7"/>
    <a:srgbClr val="DDBBD3"/>
    <a:srgbClr val="E7E6E6"/>
    <a:srgbClr val="FAD0D0"/>
    <a:srgbClr val="F2A856"/>
    <a:srgbClr val="0A1D64"/>
    <a:srgbClr val="FF6600"/>
    <a:srgbClr val="0000FF"/>
    <a:srgbClr val="3333F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57" autoAdjust="0"/>
    <p:restoredTop sz="87704" autoAdjust="0"/>
  </p:normalViewPr>
  <p:slideViewPr>
    <p:cSldViewPr showGuides="1">
      <p:cViewPr varScale="1">
        <p:scale>
          <a:sx n="114" d="100"/>
          <a:sy n="114" d="100"/>
        </p:scale>
        <p:origin x="696" y="108"/>
      </p:cViewPr>
      <p:guideLst>
        <p:guide orient="horz" pos="2160"/>
        <p:guide pos="37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45003" cy="45003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8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8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CF5D121A-8DF2-45BA-A1B0-0DFE42FD727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8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panose="0208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4F1A01AD-401E-44C1-B7FB-386EA462E700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8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8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8758E91B-2FB5-4005-9BF0-74441173B609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8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panose="0208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6E4697D6-A914-4B0F-B0BE-BE5CBE412A4A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9E1C9-9140-42ED-8E89-B1A40B52031D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9E1C9-9140-42ED-8E89-B1A40B52031D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9E1C9-9140-42ED-8E89-B1A40B52031D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9E1C9-9140-42ED-8E89-B1A40B52031D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9E1C9-9140-42ED-8E89-B1A40B52031D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9E1C9-9140-42ED-8E89-B1A40B52031D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9E1C9-9140-42ED-8E89-B1A40B52031D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9E1C9-9140-42ED-8E89-B1A40B52031D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9E1C9-9140-42ED-8E89-B1A40B52031D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9E1C9-9140-42ED-8E89-B1A40B52031D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9E1C9-9140-42ED-8E89-B1A40B52031D}" type="slidenum">
              <a:rPr lang="zh-CN" altLang="zh-CN" smtClean="0"/>
            </a:fld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2" y="1735854"/>
            <a:ext cx="12192001" cy="5122151"/>
          </a:xfrm>
          <a:custGeom>
            <a:avLst/>
            <a:gdLst>
              <a:gd name="connsiteX0" fmla="*/ 1 w 12192001"/>
              <a:gd name="connsiteY0" fmla="*/ 0 h 5122151"/>
              <a:gd name="connsiteX1" fmla="*/ 12192001 w 12192001"/>
              <a:gd name="connsiteY1" fmla="*/ 5106589 h 5122151"/>
              <a:gd name="connsiteX2" fmla="*/ 12186517 w 12192001"/>
              <a:gd name="connsiteY2" fmla="*/ 5122150 h 5122151"/>
              <a:gd name="connsiteX3" fmla="*/ 1 w 12192001"/>
              <a:gd name="connsiteY3" fmla="*/ 5122151 h 5122151"/>
              <a:gd name="connsiteX4" fmla="*/ 0 w 12192001"/>
              <a:gd name="connsiteY4" fmla="*/ 1 h 5122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5122151">
                <a:moveTo>
                  <a:pt x="1" y="0"/>
                </a:moveTo>
                <a:lnTo>
                  <a:pt x="12192001" y="5106589"/>
                </a:lnTo>
                <a:lnTo>
                  <a:pt x="12186517" y="5122150"/>
                </a:lnTo>
                <a:lnTo>
                  <a:pt x="1" y="5122151"/>
                </a:lnTo>
                <a:lnTo>
                  <a:pt x="0" y="1"/>
                </a:lnTo>
                <a:close/>
              </a:path>
            </a:pathLst>
          </a:custGeom>
        </p:spPr>
        <p:txBody>
          <a:bodyPr>
            <a:noAutofit/>
          </a:bodyPr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E51B6-63ED-4403-993B-FDED5AA9F28D}" type="slidenum">
              <a:rPr lang="zh-CN" altLang="zh-CN"/>
            </a:fld>
            <a:r>
              <a:rPr lang="en-US" altLang="zh-CN" dirty="0"/>
              <a:t>/25</a:t>
            </a:r>
            <a:endParaRPr lang="zh-CN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BC7B3-300A-4741-B26A-1ABC7BA1E15A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 bwMode="auto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985" y="6330951"/>
            <a:ext cx="391371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9575801" y="136526"/>
            <a:ext cx="2662767" cy="708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航天机器人创客</a:t>
            </a:r>
            <a:endParaRPr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轩宇智能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218" y="109538"/>
            <a:ext cx="98213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47675"/>
            <a:ext cx="4356100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A1332-4B81-408C-9B07-35DBADDE926A}" type="slidenum">
              <a:rPr lang="zh-CN" altLang="zh-CN"/>
            </a:fld>
            <a:endParaRPr lang="zh-CN" altLang="zh-CN"/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 bwMode="auto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985" y="6330951"/>
            <a:ext cx="391371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47675"/>
            <a:ext cx="4356100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A1332-4B81-408C-9B07-35DBADDE926A}" type="slidenum">
              <a:rPr lang="zh-CN" altLang="zh-CN"/>
            </a:fld>
            <a:endParaRPr lang="zh-CN" altLang="zh-CN"/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pic>
        <p:nvPicPr>
          <p:cNvPr id="15" name="Picture 10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6317" y="90907"/>
            <a:ext cx="919671" cy="713537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1622618" y="6040439"/>
            <a:ext cx="569383" cy="403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063818" y="6453188"/>
            <a:ext cx="569383" cy="40481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622618" y="6443663"/>
            <a:ext cx="569383" cy="4048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A284D-C56F-483B-827A-EE8B6E6F01AE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E49E1C9-9140-42ED-8E89-B1A40B52031D}" type="slidenum">
              <a:rPr lang="zh-CN" altLang="zh-CN" smtClean="0"/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ns2="http://schemas.openxmlformats.org/markup-compatibility/2006" xmlns:ns3="http://schemas.microsoft.com/office/drawing/2010/main" xmlns:ns4="http://schemas.openxmlformats.org/officeDocument/2006/math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5" name="组合 1384"/>
          <p:cNvGrpSpPr/>
          <p:nvPr/>
        </p:nvGrpSpPr>
        <p:grpSpPr>
          <a:xfrm>
            <a:off x="830649" y="908832"/>
            <a:ext cx="10665711" cy="4815575"/>
            <a:chOff x="763144" y="818826"/>
            <a:chExt cx="10665711" cy="4815575"/>
          </a:xfrm>
        </p:grpSpPr>
        <p:sp>
          <p:nvSpPr>
            <p:cNvPr id="1092" name="矩形: 圆角 1091"/>
            <p:cNvSpPr/>
            <p:nvPr/>
          </p:nvSpPr>
          <p:spPr>
            <a:xfrm>
              <a:off x="763144" y="864086"/>
              <a:ext cx="10665711" cy="4770315"/>
            </a:xfrm>
            <a:prstGeom prst="roundRect">
              <a:avLst>
                <a:gd name="adj" fmla="val 6603"/>
              </a:avLst>
            </a:prstGeom>
            <a:solidFill>
              <a:schemeClr val="bg1">
                <a:lumMod val="95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ns2:AlternateContent>
          <ns2:Choice Requires="a14">
            <p:sp>
              <p:nvSpPr>
                <p:cNvPr id="56" name="文本框 55"/>
                <p:cNvSpPr txBox="1"/>
                <p:nvPr/>
              </p:nvSpPr>
              <p:spPr>
                <a:xfrm>
                  <a:off x="10990330" y="4779365"/>
                  <a:ext cx="43852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ns3:m>
                    <ns4:oMathPara>
                      <ns4:oMathParaPr>
                        <ns4:jc ns4:val="centerGroup"/>
                      </ns4:oMathParaPr>
                      <ns4:oMath>
                        <ns4:sSub>
                          <ns4:sSubPr>
                            <ns4:ctrlP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ns4:ctrlPr>
                          </ns4:sSubPr>
                          <ns4:e>
                            <ns4: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𝒂</ns4:t>
                            </ns4:r>
                          </ns4:e>
                          <ns4:sub>
                            <ns4: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𝒕</ns4:t>
                            </ns4:r>
                          </ns4:sub>
                        </ns4:sSub>
                      </ns4:oMath>
                    </ns4:oMathPara>
                  </ns3:m>
                  <a:endParaRPr lang="zh-CN" altLang="en-US" dirty="0"/>
                </a:p>
              </p:txBody>
            </p:sp>
          </ns2:Choice>
          <ns2:Fallback>
            <p:sp>
              <p:nvSpPr>
                <p:cNvPr id="56" name="文本框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90330" y="4779365"/>
                  <a:ext cx="438525" cy="369332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ns2:Fallback>
        </ns2:AlternateContent>
        <ns2:AlternateContent>
          <ns2:Choice Requires="a14">
            <p:sp>
              <p:nvSpPr>
                <p:cNvPr id="57" name="文本框 56"/>
                <p:cNvSpPr txBox="1"/>
                <p:nvPr/>
              </p:nvSpPr>
              <p:spPr>
                <a:xfrm>
                  <a:off x="8770154" y="1282537"/>
                  <a:ext cx="51768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ns3:m>
                    <ns4:oMathPara>
                      <ns4:oMathParaPr>
                        <ns4:jc ns4:val="centerGroup"/>
                      </ns4:oMathParaPr>
                      <ns4:oMath>
                        <ns4:sSub>
                          <ns4:sSubPr>
                            <ns4:ctrlP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ns4:ctrlPr>
                          </ns4:sSubPr>
                          <ns4:e>
                            <ns4: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𝑺</ns4:t>
                            </ns4:r>
                          </ns4:e>
                          <ns4:sub>
                            <ns4: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𝒕</ns4:t>
                            </ns4:r>
                          </ns4:sub>
                        </ns4:sSub>
                      </ns4:oMath>
                    </ns4:oMathPara>
                  </ns3:m>
                  <a:endParaRPr lang="zh-CN" altLang="en-US" dirty="0"/>
                </a:p>
              </p:txBody>
            </p:sp>
          </ns2:Choice>
          <ns2:Fallback>
            <p:sp>
              <p:nvSpPr>
                <p:cNvPr id="57" name="文本框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0154" y="1282537"/>
                  <a:ext cx="517683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ns2:Fallback>
        </ns2:AlternateContent>
        <ns2:AlternateContent>
          <ns2:Choice Requires="a14">
            <p:sp>
              <p:nvSpPr>
                <p:cNvPr id="1057" name="文本框 1056"/>
                <p:cNvSpPr txBox="1"/>
                <p:nvPr/>
              </p:nvSpPr>
              <p:spPr>
                <a:xfrm>
                  <a:off x="8412206" y="3281748"/>
                  <a:ext cx="43852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ns3:m>
                    <ns4:oMathPara>
                      <ns4:oMathParaPr>
                        <ns4:jc ns4:val="centerGroup"/>
                      </ns4:oMathParaPr>
                      <ns4:oMath>
                        <ns4:r>
                          <a:rPr lang="en-US" altLang="zh-CN" b="1" i="1" dirty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ns4:t>𝒉</ns4:t>
                        </ns4:r>
                      </ns4:oMath>
                    </ns4:oMathPara>
                  </ns3:m>
                  <a:endParaRPr lang="zh-CN" altLang="en-US" b="1" i="1" dirty="0">
                    <a:solidFill>
                      <a:srgbClr val="292929"/>
                    </a:solidFill>
                    <a:latin typeface="Cambria Math" panose="02040503050406030204" pitchFamily="18" charset="0"/>
                  </a:endParaRPr>
                </a:p>
              </p:txBody>
            </p:sp>
          </ns2:Choice>
          <ns2:Fallback>
            <p:sp>
              <p:nvSpPr>
                <p:cNvPr id="1057" name="文本框 10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2206" y="3281748"/>
                  <a:ext cx="438525" cy="36933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ns2:Fallback>
        </ns2:AlternateContent>
        <ns2:AlternateContent>
          <ns2:Choice Requires="a14">
            <p:sp>
              <p:nvSpPr>
                <p:cNvPr id="1078" name="文本框 1077"/>
                <p:cNvSpPr txBox="1"/>
                <p:nvPr/>
              </p:nvSpPr>
              <p:spPr>
                <a:xfrm>
                  <a:off x="2646090" y="2980083"/>
                  <a:ext cx="497485" cy="3095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ns3:m>
                    <ns4:oMathPara>
                      <ns4:oMathParaPr>
                        <ns4:jc ns4:val="centerGroup"/>
                      </ns4:oMathParaPr>
                      <ns4:oMath>
                        <ns4:sSubSup>
                          <ns4:sSubSupPr>
                            <ns4:ctrlP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ns4:ctrlPr>
                          </ns4:sSubSupPr>
                          <ns4:e>
                            <ns4: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𝑪</ns4:t>
                            </ns4:r>
                          </ns4:e>
                          <ns4:sub>
                            <ns4:r>
                              <a:rPr lang="en-US" altLang="zh-CN" sz="1800" b="1" i="1" dirty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𝒕</ns4:t>
                            </ns4:r>
                          </ns4:sub>
                          <ns4:sup>
                            <ns4: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𝟐</ns4:t>
                            </ns4:r>
                          </ns4:sup>
                        </ns4:sSubSup>
                      </ns4:oMath>
                    </ns4:oMathPara>
                  </ns3:m>
                  <a:endParaRPr lang="zh-CN" altLang="en-US" dirty="0"/>
                </a:p>
              </p:txBody>
            </p:sp>
          </ns2:Choice>
          <ns2:Fallback>
            <p:sp>
              <p:nvSpPr>
                <p:cNvPr id="1078" name="文本框 10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6090" y="2980083"/>
                  <a:ext cx="497485" cy="309504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ns2:Fallback>
        </ns2:AlternateContent>
        <p:grpSp>
          <p:nvGrpSpPr>
            <p:cNvPr id="1453" name="组合 1452"/>
            <p:cNvGrpSpPr/>
            <p:nvPr/>
          </p:nvGrpSpPr>
          <p:grpSpPr>
            <a:xfrm>
              <a:off x="8696105" y="2314006"/>
              <a:ext cx="440675" cy="991078"/>
              <a:chOff x="7709388" y="2407601"/>
              <a:chExt cx="440675" cy="991078"/>
            </a:xfrm>
          </p:grpSpPr>
          <p:grpSp>
            <p:nvGrpSpPr>
              <p:cNvPr id="1217" name="组合 1216"/>
              <p:cNvGrpSpPr/>
              <p:nvPr/>
            </p:nvGrpSpPr>
            <p:grpSpPr>
              <a:xfrm rot="5400000">
                <a:off x="7430030" y="2793396"/>
                <a:ext cx="968452" cy="242113"/>
                <a:chOff x="4471262" y="4607292"/>
                <a:chExt cx="625352" cy="156338"/>
              </a:xfrm>
              <a:solidFill>
                <a:schemeClr val="bg1"/>
              </a:solidFill>
            </p:grpSpPr>
            <p:sp>
              <p:nvSpPr>
                <p:cNvPr id="1218" name="矩形 1217"/>
                <p:cNvSpPr/>
                <p:nvPr/>
              </p:nvSpPr>
              <p:spPr>
                <a:xfrm>
                  <a:off x="4471262" y="4607292"/>
                  <a:ext cx="156338" cy="15633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19" name="矩形 1218"/>
                <p:cNvSpPr/>
                <p:nvPr/>
              </p:nvSpPr>
              <p:spPr>
                <a:xfrm>
                  <a:off x="4627600" y="4607292"/>
                  <a:ext cx="156338" cy="15633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20" name="矩形 1219"/>
                <p:cNvSpPr/>
                <p:nvPr/>
              </p:nvSpPr>
              <p:spPr>
                <a:xfrm>
                  <a:off x="4783938" y="4607292"/>
                  <a:ext cx="156338" cy="156338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21" name="矩形 1220"/>
                <p:cNvSpPr/>
                <p:nvPr/>
              </p:nvSpPr>
              <p:spPr>
                <a:xfrm>
                  <a:off x="4940276" y="4607292"/>
                  <a:ext cx="156338" cy="156338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226" name="组合 1225"/>
              <p:cNvGrpSpPr/>
              <p:nvPr/>
            </p:nvGrpSpPr>
            <p:grpSpPr>
              <a:xfrm>
                <a:off x="7709388" y="2407601"/>
                <a:ext cx="440675" cy="983021"/>
                <a:chOff x="6927439" y="2425741"/>
                <a:chExt cx="440675" cy="983021"/>
              </a:xfrm>
            </p:grpSpPr>
            <ns2:AlternateContent>
              <ns2:Choice Requires="a14">
                <p:sp>
                  <p:nvSpPr>
                    <p:cNvPr id="1222" name="文本框 1221"/>
                    <p:cNvSpPr txBox="1"/>
                    <p:nvPr/>
                  </p:nvSpPr>
                  <p:spPr>
                    <a:xfrm>
                      <a:off x="6927439" y="2895142"/>
                      <a:ext cx="43852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ns3:m>
                        <ns4:oMathPara>
                          <ns4:oMathParaPr>
                            <ns4:jc ns4:val="centerGroup"/>
                          </ns4:oMathParaPr>
                          <ns4:oMath>
                            <ns4:sSub>
                              <ns4:sSubPr>
                                <ns4:ctrlPr>
                                  <a:rPr lang="en-US" altLang="zh-CN" sz="1200" b="1" i="1" dirty="0" smtClean="0">
                                    <a:solidFill>
                                      <a:srgbClr val="292929"/>
                                    </a:solidFill>
                                    <a:latin typeface="Cambria Math" panose="02040503050406030204" pitchFamily="18" charset="0"/>
                                  </a:rPr>
                                </ns4:ctrlPr>
                              </ns4:sSubPr>
                              <ns4:e>
                                <ns4:r>
                                  <a:rPr lang="en-US" altLang="zh-CN" sz="1200" b="1" i="1" dirty="0" smtClean="0">
                                    <a:solidFill>
                                      <a:srgbClr val="292929"/>
                                    </a:solidFill>
                                    <a:latin typeface="Cambria Math" panose="02040503050406030204" pitchFamily="18" charset="0"/>
                                  </a:rPr>
                                  <ns4:t>𝒁</ns4:t>
                                </ns4:r>
                              </ns4:e>
                              <ns4:sub>
                                <ns4:r>
                                  <a:rPr lang="en-US" altLang="zh-CN" sz="1200" b="1" i="1" dirty="0" smtClean="0">
                                    <a:solidFill>
                                      <a:srgbClr val="292929"/>
                                    </a:solidFill>
                                    <a:latin typeface="Cambria Math" panose="02040503050406030204" pitchFamily="18" charset="0"/>
                                  </a:rPr>
                                  <ns4:t>𝒕</ns4:t>
                                </ns4:r>
                              </ns4:sub>
                            </ns4:sSub>
                          </ns4:oMath>
                        </ns4:oMathPara>
                      </ns3:m>
                      <a:endParaRPr lang="zh-CN" altLang="en-US" sz="1200" b="1" i="1" dirty="0">
                        <a:solidFill>
                          <a:srgbClr val="292929"/>
                        </a:solidFill>
                        <a:latin typeface="Cambria Math" panose="02040503050406030204" pitchFamily="18" charset="0"/>
                      </a:endParaRPr>
                    </a:p>
                  </p:txBody>
                </p:sp>
              </ns2:Choice>
              <ns2:Fallback>
                <p:sp>
                  <p:nvSpPr>
                    <p:cNvPr id="1222" name="文本框 12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27439" y="2895142"/>
                      <a:ext cx="438525" cy="276999"/>
                    </a:xfrm>
                    <a:prstGeom prst="rect">
                      <a:avLst/>
                    </a:prstGeom>
                    <a:blipFill rotWithShape="1">
                      <a:blip r:embed="rId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ns2:Fallback>
            </ns2:AlternateContent>
            <ns2:AlternateContent>
              <ns2:Choice Requires="a14">
                <p:sp>
                  <p:nvSpPr>
                    <p:cNvPr id="1223" name="文本框 1222"/>
                    <p:cNvSpPr txBox="1"/>
                    <p:nvPr/>
                  </p:nvSpPr>
                  <p:spPr>
                    <a:xfrm>
                      <a:off x="6927439" y="3131763"/>
                      <a:ext cx="43852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ns3:m>
                        <ns4:oMathPara>
                          <ns4:oMathParaPr>
                            <ns4:jc ns4:val="centerGroup"/>
                          </ns4:oMathParaPr>
                          <ns4:oMath>
                            <ns4:sSub>
                              <ns4:sSubPr>
                                <ns4:ctrlPr>
                                  <a:rPr lang="en-US" altLang="zh-CN" sz="1200" b="1" i="1" dirty="0" smtClean="0">
                                    <a:solidFill>
                                      <a:srgbClr val="292929"/>
                                    </a:solidFill>
                                    <a:latin typeface="Cambria Math" panose="02040503050406030204" pitchFamily="18" charset="0"/>
                                  </a:rPr>
                                </ns4:ctrlPr>
                              </ns4:sSubPr>
                              <ns4:e>
                                <ns4:r>
                                  <a:rPr lang="en-US" altLang="zh-CN" sz="1200" b="1" i="1" dirty="0" smtClean="0">
                                    <a:solidFill>
                                      <a:srgbClr val="292929"/>
                                    </a:solidFill>
                                    <a:latin typeface="Cambria Math" panose="02040503050406030204" pitchFamily="18" charset="0"/>
                                  </a:rPr>
                                  <ns4:t>𝒁</ns4:t>
                                </ns4:r>
                              </ns4:e>
                              <ns4:sub>
                                <ns4:r>
                                  <a:rPr lang="en-US" altLang="zh-CN" sz="1200" b="1" i="1" dirty="0" smtClean="0">
                                    <a:solidFill>
                                      <a:srgbClr val="292929"/>
                                    </a:solidFill>
                                    <a:latin typeface="Cambria Math" panose="02040503050406030204" pitchFamily="18" charset="0"/>
                                  </a:rPr>
                                  <ns4:t>𝒎</ns4:t>
                                </ns4:r>
                              </ns4:sub>
                            </ns4:sSub>
                          </ns4:oMath>
                        </ns4:oMathPara>
                      </ns3:m>
                      <a:endParaRPr lang="zh-CN" altLang="en-US" sz="1200" b="1" i="1" dirty="0">
                        <a:solidFill>
                          <a:srgbClr val="292929"/>
                        </a:solidFill>
                        <a:latin typeface="Cambria Math" panose="02040503050406030204" pitchFamily="18" charset="0"/>
                      </a:endParaRPr>
                    </a:p>
                  </p:txBody>
                </p:sp>
              </ns2:Choice>
              <ns2:Fallback>
                <p:sp>
                  <p:nvSpPr>
                    <p:cNvPr id="1223" name="文本框 122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27439" y="3131763"/>
                      <a:ext cx="438525" cy="276999"/>
                    </a:xfrm>
                    <a:prstGeom prst="rect">
                      <a:avLst/>
                    </a:prstGeom>
                    <a:blipFill rotWithShape="1">
                      <a:blip r:embed="rId6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ns2:Fallback>
            </ns2:AlternateContent>
            <ns2:AlternateContent>
              <ns2:Choice Requires="a14">
                <p:sp>
                  <p:nvSpPr>
                    <p:cNvPr id="1224" name="文本框 1223"/>
                    <p:cNvSpPr txBox="1"/>
                    <p:nvPr/>
                  </p:nvSpPr>
                  <p:spPr>
                    <a:xfrm>
                      <a:off x="6927439" y="2653029"/>
                      <a:ext cx="438525" cy="294568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ns3:m>
                        <ns4:oMathPara>
                          <ns4:oMathParaPr>
                            <ns4:jc ns4:val="centerGroup"/>
                          </ns4:oMathParaPr>
                          <ns4:oMath>
                            <ns4:sSub>
                              <ns4:sSubPr>
                                <ns4:ctrlPr>
                                  <a:rPr lang="en-US" altLang="zh-CN" sz="1200" b="1" i="1" dirty="0" smtClean="0">
                                    <a:solidFill>
                                      <a:srgbClr val="292929"/>
                                    </a:solidFill>
                                    <a:latin typeface="Cambria Math" panose="02040503050406030204" pitchFamily="18" charset="0"/>
                                  </a:rPr>
                                </ns4:ctrlPr>
                              </ns4:sSubPr>
                              <ns4:e>
                                <ns4:r>
                                  <a:rPr lang="en-US" altLang="zh-CN" sz="1200" b="1" i="1" dirty="0" smtClean="0">
                                    <a:solidFill>
                                      <a:srgbClr val="292929"/>
                                    </a:solidFill>
                                    <a:latin typeface="Cambria Math" panose="02040503050406030204" pitchFamily="18" charset="0"/>
                                  </a:rPr>
                                  <ns4:t>𝒉</ns4:t>
                                </ns4:r>
                              </ns4:e>
                              <ns4:sub>
                                <ns4:r>
                                  <a:rPr lang="en-US" altLang="zh-CN" sz="1200" b="1" i="1" dirty="0" smtClean="0">
                                    <a:solidFill>
                                      <a:srgbClr val="292929"/>
                                    </a:solidFill>
                                    <a:latin typeface="Cambria Math" panose="02040503050406030204" pitchFamily="18" charset="0"/>
                                  </a:rPr>
                                  <ns4:t>𝒇</ns4:t>
                                </ns4:r>
                              </ns4:sub>
                            </ns4:sSub>
                          </ns4:oMath>
                        </ns4:oMathPara>
                      </ns3:m>
                      <a:endParaRPr lang="zh-CN" altLang="en-US" sz="1200" b="1" i="1" dirty="0">
                        <a:solidFill>
                          <a:srgbClr val="292929"/>
                        </a:solidFill>
                        <a:latin typeface="Cambria Math" panose="02040503050406030204" pitchFamily="18" charset="0"/>
                      </a:endParaRPr>
                    </a:p>
                  </p:txBody>
                </p:sp>
              </ns2:Choice>
              <ns2:Fallback>
                <p:sp>
                  <p:nvSpPr>
                    <p:cNvPr id="1224" name="文本框 122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27439" y="2653029"/>
                      <a:ext cx="438525" cy="294568"/>
                    </a:xfrm>
                    <a:prstGeom prst="rect">
                      <a:avLst/>
                    </a:prstGeom>
                    <a:blipFill rotWithShape="1">
                      <a:blip r:embed="rId7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ns2:Fallback>
            </ns2:AlternateContent>
            <ns2:AlternateContent>
              <ns2:Choice Requires="a14">
                <p:sp>
                  <p:nvSpPr>
                    <p:cNvPr id="1225" name="文本框 1224"/>
                    <p:cNvSpPr txBox="1"/>
                    <p:nvPr/>
                  </p:nvSpPr>
                  <p:spPr>
                    <a:xfrm>
                      <a:off x="6929589" y="2425741"/>
                      <a:ext cx="43852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ns3:m>
                        <ns4:oMathPara>
                          <ns4:oMathParaPr>
                            <ns4:jc ns4:val="centerGroup"/>
                          </ns4:oMathParaPr>
                          <ns4:oMath>
                            <ns4:sSub>
                              <ns4:sSubPr>
                                <ns4:ctrlPr>
                                  <a:rPr lang="en-US" altLang="zh-CN" sz="1200" b="1" i="1" dirty="0" smtClean="0">
                                    <a:solidFill>
                                      <a:srgbClr val="292929"/>
                                    </a:solidFill>
                                    <a:latin typeface="Cambria Math" panose="02040503050406030204" pitchFamily="18" charset="0"/>
                                  </a:rPr>
                                </ns4:ctrlPr>
                              </ns4:sSubPr>
                              <ns4:e>
                                <ns4:r>
                                  <a:rPr lang="en-US" altLang="zh-CN" sz="1200" b="1" i="1" dirty="0" smtClean="0">
                                    <a:solidFill>
                                      <a:srgbClr val="292929"/>
                                    </a:solidFill>
                                    <a:latin typeface="Cambria Math" panose="02040503050406030204" pitchFamily="18" charset="0"/>
                                  </a:rPr>
                                  <ns4:t>𝑽</ns4:t>
                                </ns4:r>
                              </ns4:e>
                              <ns4:sub>
                                <ns4:r>
                                  <a:rPr lang="en-US" altLang="zh-CN" sz="1200" b="1" i="1" dirty="0" smtClean="0">
                                    <a:solidFill>
                                      <a:srgbClr val="292929"/>
                                    </a:solidFill>
                                    <a:latin typeface="Cambria Math" panose="02040503050406030204" pitchFamily="18" charset="0"/>
                                  </a:rPr>
                                  <ns4:t>𝟎</ns4:t>
                                </ns4:r>
                              </ns4:sub>
                            </ns4:sSub>
                          </ns4:oMath>
                        </ns4:oMathPara>
                      </ns3:m>
                      <a:endParaRPr lang="zh-CN" altLang="en-US" sz="1200" b="1" i="1" dirty="0">
                        <a:solidFill>
                          <a:srgbClr val="292929"/>
                        </a:solidFill>
                        <a:latin typeface="Cambria Math" panose="02040503050406030204" pitchFamily="18" charset="0"/>
                      </a:endParaRPr>
                    </a:p>
                  </p:txBody>
                </p:sp>
              </ns2:Choice>
              <ns2:Fallback>
                <p:sp>
                  <p:nvSpPr>
                    <p:cNvPr id="1225" name="文本框 12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29589" y="2425741"/>
                      <a:ext cx="438525" cy="276999"/>
                    </a:xfrm>
                    <a:prstGeom prst="rect">
                      <a:avLst/>
                    </a:prstGeom>
                    <a:blipFill rotWithShape="1">
                      <a:blip r:embed="rId8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ns2:Fallback>
            </ns2:AlternateContent>
          </p:grpSp>
        </p:grpSp>
        <p:grpSp>
          <p:nvGrpSpPr>
            <p:cNvPr id="1344" name="组合 1343"/>
            <p:cNvGrpSpPr/>
            <p:nvPr/>
          </p:nvGrpSpPr>
          <p:grpSpPr>
            <a:xfrm>
              <a:off x="1140620" y="1381273"/>
              <a:ext cx="3584285" cy="1134656"/>
              <a:chOff x="758095" y="1471021"/>
              <a:chExt cx="3584285" cy="1134656"/>
            </a:xfrm>
          </p:grpSpPr>
          <p:sp>
            <p:nvSpPr>
              <p:cNvPr id="1091" name="矩形: 圆角 1090"/>
              <p:cNvSpPr/>
              <p:nvPr/>
            </p:nvSpPr>
            <p:spPr>
              <a:xfrm>
                <a:off x="758095" y="1471021"/>
                <a:ext cx="3584285" cy="1091551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8575"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080" name="直接箭头连接符 1079"/>
              <p:cNvCxnSpPr/>
              <p:nvPr/>
            </p:nvCxnSpPr>
            <p:spPr>
              <a:xfrm>
                <a:off x="1822056" y="1952653"/>
                <a:ext cx="317167" cy="7392"/>
              </a:xfrm>
              <a:prstGeom prst="straightConnector1">
                <a:avLst/>
              </a:prstGeom>
              <a:ln w="38100"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ns2:AlternateContent>
            <ns2:Choice Requires="a14">
              <p:sp>
                <p:nvSpPr>
                  <p:cNvPr id="1081" name="文本框 1080"/>
                  <p:cNvSpPr txBox="1"/>
                  <p:nvPr/>
                </p:nvSpPr>
                <p:spPr>
                  <a:xfrm>
                    <a:off x="2056002" y="1771683"/>
                    <a:ext cx="43852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ns3:m>
                      <ns4:oMathPara>
                        <ns4:oMathParaPr>
                          <ns4:jc ns4:val="centerGroup"/>
                        </ns4:oMathParaPr>
                        <ns4:oMath>
                          <ns4:sSub>
                            <ns4:sSubPr>
                              <ns4:ctrlPr>
                                <a:rPr lang="en-US" altLang="zh-CN" b="1" i="1" dirty="0">
                                  <a:solidFill>
                                    <a:srgbClr val="292929"/>
                                  </a:solidFill>
                                  <a:latin typeface="Cambria Math" panose="02040503050406030204" pitchFamily="18" charset="0"/>
                                </a:rPr>
                              </ns4:ctrlPr>
                            </ns4:sSubPr>
                            <ns4:e>
                              <ns4:r>
                                <a:rPr lang="en-US" altLang="zh-CN" b="1" i="1" dirty="0">
                                  <a:solidFill>
                                    <a:srgbClr val="292929"/>
                                  </a:solidFill>
                                  <a:latin typeface="Cambria Math" panose="02040503050406030204" pitchFamily="18" charset="0"/>
                                </a:rPr>
                                <ns4:t>𝒛</ns4:t>
                              </ns4:r>
                            </ns4:e>
                            <ns4:sub>
                              <ns4:r>
                                <a:rPr lang="en-US" altLang="zh-CN" b="1" i="1" dirty="0">
                                  <a:solidFill>
                                    <a:srgbClr val="292929"/>
                                  </a:solidFill>
                                  <a:latin typeface="Cambria Math" panose="02040503050406030204" pitchFamily="18" charset="0"/>
                                </a:rPr>
                                <ns4:t>𝒕</ns4:t>
                              </ns4:r>
                            </ns4:sub>
                          </ns4:sSub>
                        </ns4:oMath>
                      </ns4:oMathPara>
                    </ns3:m>
                    <a:endParaRPr lang="zh-CN" altLang="en-US" b="1" i="1" dirty="0">
                      <a:solidFill>
                        <a:srgbClr val="292929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ns2:Choice>
            <ns2:Fallback>
              <p:sp>
                <p:nvSpPr>
                  <p:cNvPr id="1081" name="文本框 108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56002" y="1771683"/>
                    <a:ext cx="438525" cy="369332"/>
                  </a:xfrm>
                  <a:prstGeom prst="rect">
                    <a:avLst/>
                  </a:prstGeom>
                  <a:blipFill rotWithShape="1">
                    <a:blip r:embed="rId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ns2:Fallback>
          </ns2:AlternateContent>
          <p:cxnSp>
            <p:nvCxnSpPr>
              <p:cNvPr id="1083" name="直接箭头连接符 1082"/>
              <p:cNvCxnSpPr/>
              <p:nvPr/>
            </p:nvCxnSpPr>
            <p:spPr>
              <a:xfrm>
                <a:off x="2421414" y="1952653"/>
                <a:ext cx="317167" cy="7392"/>
              </a:xfrm>
              <a:prstGeom prst="straightConnector1">
                <a:avLst/>
              </a:prstGeom>
              <a:ln w="38100"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4" name="直接箭头连接符 1083"/>
              <p:cNvCxnSpPr/>
              <p:nvPr/>
            </p:nvCxnSpPr>
            <p:spPr>
              <a:xfrm>
                <a:off x="3573499" y="1952653"/>
                <a:ext cx="317167" cy="7392"/>
              </a:xfrm>
              <a:prstGeom prst="straightConnector1">
                <a:avLst/>
              </a:prstGeom>
              <a:ln w="38100">
                <a:prstDash val="soli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238" name="组合 1237"/>
              <p:cNvGrpSpPr/>
              <p:nvPr/>
            </p:nvGrpSpPr>
            <p:grpSpPr>
              <a:xfrm>
                <a:off x="1020047" y="1590983"/>
                <a:ext cx="729287" cy="730732"/>
                <a:chOff x="2787869" y="3318766"/>
                <a:chExt cx="1689423" cy="1692771"/>
              </a:xfrm>
            </p:grpSpPr>
            <p:sp>
              <p:nvSpPr>
                <p:cNvPr id="1239" name="矩形: 圆角 1238"/>
                <p:cNvSpPr/>
                <p:nvPr/>
              </p:nvSpPr>
              <p:spPr>
                <a:xfrm>
                  <a:off x="2787869" y="3318766"/>
                  <a:ext cx="1689423" cy="169277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40" name="椭圆 1239"/>
                <p:cNvSpPr/>
                <p:nvPr/>
              </p:nvSpPr>
              <p:spPr>
                <a:xfrm>
                  <a:off x="2975413" y="3486804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41" name="椭圆 1240"/>
                <p:cNvSpPr/>
                <p:nvPr/>
              </p:nvSpPr>
              <p:spPr>
                <a:xfrm>
                  <a:off x="2977606" y="4598093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42" name="椭圆 1241"/>
                <p:cNvSpPr/>
                <p:nvPr/>
              </p:nvSpPr>
              <p:spPr>
                <a:xfrm>
                  <a:off x="4091467" y="3731485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43" name="椭圆 1242"/>
                <p:cNvSpPr/>
                <p:nvPr/>
              </p:nvSpPr>
              <p:spPr>
                <a:xfrm>
                  <a:off x="3534537" y="3486804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44" name="椭圆 1243"/>
                <p:cNvSpPr/>
                <p:nvPr/>
              </p:nvSpPr>
              <p:spPr>
                <a:xfrm>
                  <a:off x="3534537" y="4038814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45" name="椭圆 1244"/>
                <p:cNvSpPr/>
                <p:nvPr/>
              </p:nvSpPr>
              <p:spPr>
                <a:xfrm>
                  <a:off x="3536730" y="4598093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46" name="直接连接符 1245"/>
                <p:cNvCxnSpPr>
                  <a:stCxn id="1240" idx="6"/>
                  <a:endCxn id="1245" idx="2"/>
                </p:cNvCxnSpPr>
                <p:nvPr/>
              </p:nvCxnSpPr>
              <p:spPr>
                <a:xfrm>
                  <a:off x="3200428" y="3599312"/>
                  <a:ext cx="336302" cy="111128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47" name="直接连接符 1246"/>
                <p:cNvCxnSpPr>
                  <a:stCxn id="1240" idx="6"/>
                  <a:endCxn id="1244" idx="2"/>
                </p:cNvCxnSpPr>
                <p:nvPr/>
              </p:nvCxnSpPr>
              <p:spPr>
                <a:xfrm>
                  <a:off x="3200428" y="3599312"/>
                  <a:ext cx="334109" cy="55201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48" name="直接连接符 1247"/>
                <p:cNvCxnSpPr>
                  <a:stCxn id="1240" idx="6"/>
                  <a:endCxn id="1243" idx="2"/>
                </p:cNvCxnSpPr>
                <p:nvPr/>
              </p:nvCxnSpPr>
              <p:spPr>
                <a:xfrm>
                  <a:off x="3200428" y="3599312"/>
                  <a:ext cx="33410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249" name="椭圆 1248"/>
                <p:cNvSpPr/>
                <p:nvPr/>
              </p:nvSpPr>
              <p:spPr>
                <a:xfrm>
                  <a:off x="2975413" y="4038814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50" name="直接连接符 1249"/>
                <p:cNvCxnSpPr>
                  <a:stCxn id="1249" idx="6"/>
                  <a:endCxn id="1245" idx="2"/>
                </p:cNvCxnSpPr>
                <p:nvPr/>
              </p:nvCxnSpPr>
              <p:spPr>
                <a:xfrm>
                  <a:off x="3200428" y="4151322"/>
                  <a:ext cx="336302" cy="55927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1" name="直接连接符 1250"/>
                <p:cNvCxnSpPr>
                  <a:stCxn id="1249" idx="6"/>
                  <a:endCxn id="1244" idx="2"/>
                </p:cNvCxnSpPr>
                <p:nvPr/>
              </p:nvCxnSpPr>
              <p:spPr>
                <a:xfrm>
                  <a:off x="3200428" y="4151322"/>
                  <a:ext cx="33410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2" name="直接连接符 1251"/>
                <p:cNvCxnSpPr>
                  <a:stCxn id="1249" idx="6"/>
                  <a:endCxn id="1243" idx="2"/>
                </p:cNvCxnSpPr>
                <p:nvPr/>
              </p:nvCxnSpPr>
              <p:spPr>
                <a:xfrm flipV="1">
                  <a:off x="3200428" y="3599312"/>
                  <a:ext cx="334109" cy="552010"/>
                </a:xfrm>
                <a:prstGeom prst="line">
                  <a:avLst/>
                </a:prstGeom>
                <a:solidFill>
                  <a:schemeClr val="accent6">
                    <a:lumMod val="7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3" name="直接连接符 1252"/>
                <p:cNvCxnSpPr>
                  <a:stCxn id="1241" idx="6"/>
                  <a:endCxn id="1245" idx="2"/>
                </p:cNvCxnSpPr>
                <p:nvPr/>
              </p:nvCxnSpPr>
              <p:spPr>
                <a:xfrm>
                  <a:off x="3202621" y="4710601"/>
                  <a:ext cx="33410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4" name="直接连接符 1253"/>
                <p:cNvCxnSpPr>
                  <a:stCxn id="1241" idx="6"/>
                  <a:endCxn id="1244" idx="2"/>
                </p:cNvCxnSpPr>
                <p:nvPr/>
              </p:nvCxnSpPr>
              <p:spPr>
                <a:xfrm flipV="1">
                  <a:off x="3202621" y="4151322"/>
                  <a:ext cx="331916" cy="55927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5" name="直接连接符 1254"/>
                <p:cNvCxnSpPr>
                  <a:stCxn id="1241" idx="6"/>
                  <a:endCxn id="1243" idx="2"/>
                </p:cNvCxnSpPr>
                <p:nvPr/>
              </p:nvCxnSpPr>
              <p:spPr>
                <a:xfrm flipV="1">
                  <a:off x="3202621" y="3599312"/>
                  <a:ext cx="331916" cy="1111289"/>
                </a:xfrm>
                <a:prstGeom prst="line">
                  <a:avLst/>
                </a:prstGeom>
                <a:solidFill>
                  <a:schemeClr val="accent4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256" name="椭圆 1255"/>
                <p:cNvSpPr/>
                <p:nvPr/>
              </p:nvSpPr>
              <p:spPr>
                <a:xfrm>
                  <a:off x="4091468" y="4287129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57" name="直接连接符 1256"/>
                <p:cNvCxnSpPr>
                  <a:stCxn id="1243" idx="6"/>
                  <a:endCxn id="1242" idx="2"/>
                </p:cNvCxnSpPr>
                <p:nvPr/>
              </p:nvCxnSpPr>
              <p:spPr>
                <a:xfrm>
                  <a:off x="3759552" y="3599312"/>
                  <a:ext cx="331915" cy="24468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8" name="直接连接符 1257"/>
                <p:cNvCxnSpPr>
                  <a:stCxn id="1243" idx="6"/>
                  <a:endCxn id="1256" idx="2"/>
                </p:cNvCxnSpPr>
                <p:nvPr/>
              </p:nvCxnSpPr>
              <p:spPr>
                <a:xfrm>
                  <a:off x="3759552" y="3599312"/>
                  <a:ext cx="331916" cy="800325"/>
                </a:xfrm>
                <a:prstGeom prst="line">
                  <a:avLst/>
                </a:prstGeom>
                <a:solidFill>
                  <a:schemeClr val="accent6">
                    <a:lumMod val="7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9" name="直接连接符 1258"/>
                <p:cNvCxnSpPr>
                  <a:stCxn id="1244" idx="6"/>
                  <a:endCxn id="1242" idx="2"/>
                </p:cNvCxnSpPr>
                <p:nvPr/>
              </p:nvCxnSpPr>
              <p:spPr>
                <a:xfrm flipV="1">
                  <a:off x="3759552" y="3843993"/>
                  <a:ext cx="331915" cy="30732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0" name="直接连接符 1259"/>
                <p:cNvCxnSpPr>
                  <a:stCxn id="1244" idx="6"/>
                  <a:endCxn id="1256" idx="2"/>
                </p:cNvCxnSpPr>
                <p:nvPr/>
              </p:nvCxnSpPr>
              <p:spPr>
                <a:xfrm>
                  <a:off x="3759552" y="4151322"/>
                  <a:ext cx="331916" cy="24831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1" name="直接连接符 1260"/>
                <p:cNvCxnSpPr>
                  <a:stCxn id="1245" idx="6"/>
                  <a:endCxn id="1242" idx="2"/>
                </p:cNvCxnSpPr>
                <p:nvPr/>
              </p:nvCxnSpPr>
              <p:spPr>
                <a:xfrm flipV="1">
                  <a:off x="3761745" y="3843993"/>
                  <a:ext cx="329722" cy="866608"/>
                </a:xfrm>
                <a:prstGeom prst="line">
                  <a:avLst/>
                </a:prstGeom>
                <a:solidFill>
                  <a:schemeClr val="accent4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2" name="直接连接符 1261"/>
                <p:cNvCxnSpPr>
                  <a:stCxn id="1245" idx="6"/>
                  <a:endCxn id="1256" idx="2"/>
                </p:cNvCxnSpPr>
                <p:nvPr/>
              </p:nvCxnSpPr>
              <p:spPr>
                <a:xfrm flipV="1">
                  <a:off x="3761745" y="4399637"/>
                  <a:ext cx="329723" cy="31096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63" name="组合 1262"/>
              <p:cNvGrpSpPr/>
              <p:nvPr/>
            </p:nvGrpSpPr>
            <p:grpSpPr>
              <a:xfrm flipH="1">
                <a:off x="2822103" y="1590983"/>
                <a:ext cx="710729" cy="730732"/>
                <a:chOff x="2787869" y="3318766"/>
                <a:chExt cx="1689423" cy="1692771"/>
              </a:xfrm>
            </p:grpSpPr>
            <p:sp>
              <p:nvSpPr>
                <p:cNvPr id="1264" name="矩形: 圆角 1263"/>
                <p:cNvSpPr/>
                <p:nvPr/>
              </p:nvSpPr>
              <p:spPr>
                <a:xfrm>
                  <a:off x="2787869" y="3318766"/>
                  <a:ext cx="1689423" cy="169277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65" name="椭圆 1264"/>
                <p:cNvSpPr/>
                <p:nvPr/>
              </p:nvSpPr>
              <p:spPr>
                <a:xfrm>
                  <a:off x="2975413" y="3486804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66" name="椭圆 1265"/>
                <p:cNvSpPr/>
                <p:nvPr/>
              </p:nvSpPr>
              <p:spPr>
                <a:xfrm>
                  <a:off x="2977606" y="4598093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67" name="椭圆 1266"/>
                <p:cNvSpPr/>
                <p:nvPr/>
              </p:nvSpPr>
              <p:spPr>
                <a:xfrm>
                  <a:off x="4091467" y="3731485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68" name="椭圆 1267"/>
                <p:cNvSpPr/>
                <p:nvPr/>
              </p:nvSpPr>
              <p:spPr>
                <a:xfrm>
                  <a:off x="3534537" y="3486804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69" name="椭圆 1268"/>
                <p:cNvSpPr/>
                <p:nvPr/>
              </p:nvSpPr>
              <p:spPr>
                <a:xfrm>
                  <a:off x="3534537" y="4038814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70" name="椭圆 1269"/>
                <p:cNvSpPr/>
                <p:nvPr/>
              </p:nvSpPr>
              <p:spPr>
                <a:xfrm>
                  <a:off x="3536730" y="4598093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71" name="直接连接符 1270"/>
                <p:cNvCxnSpPr>
                  <a:stCxn id="1265" idx="6"/>
                  <a:endCxn id="1270" idx="2"/>
                </p:cNvCxnSpPr>
                <p:nvPr/>
              </p:nvCxnSpPr>
              <p:spPr>
                <a:xfrm>
                  <a:off x="3200428" y="3599312"/>
                  <a:ext cx="336302" cy="111128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72" name="直接连接符 1271"/>
                <p:cNvCxnSpPr>
                  <a:stCxn id="1265" idx="6"/>
                  <a:endCxn id="1269" idx="2"/>
                </p:cNvCxnSpPr>
                <p:nvPr/>
              </p:nvCxnSpPr>
              <p:spPr>
                <a:xfrm>
                  <a:off x="3200428" y="3599312"/>
                  <a:ext cx="334109" cy="55201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73" name="直接连接符 1272"/>
                <p:cNvCxnSpPr>
                  <a:stCxn id="1265" idx="6"/>
                  <a:endCxn id="1268" idx="2"/>
                </p:cNvCxnSpPr>
                <p:nvPr/>
              </p:nvCxnSpPr>
              <p:spPr>
                <a:xfrm>
                  <a:off x="3200428" y="3599312"/>
                  <a:ext cx="33410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274" name="椭圆 1273"/>
                <p:cNvSpPr/>
                <p:nvPr/>
              </p:nvSpPr>
              <p:spPr>
                <a:xfrm>
                  <a:off x="2975413" y="4038814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75" name="直接连接符 1274"/>
                <p:cNvCxnSpPr>
                  <a:stCxn id="1274" idx="6"/>
                  <a:endCxn id="1270" idx="2"/>
                </p:cNvCxnSpPr>
                <p:nvPr/>
              </p:nvCxnSpPr>
              <p:spPr>
                <a:xfrm>
                  <a:off x="3200428" y="4151322"/>
                  <a:ext cx="336302" cy="55927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76" name="直接连接符 1275"/>
                <p:cNvCxnSpPr>
                  <a:stCxn id="1274" idx="6"/>
                  <a:endCxn id="1269" idx="2"/>
                </p:cNvCxnSpPr>
                <p:nvPr/>
              </p:nvCxnSpPr>
              <p:spPr>
                <a:xfrm>
                  <a:off x="3200428" y="4151322"/>
                  <a:ext cx="33410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77" name="直接连接符 1276"/>
                <p:cNvCxnSpPr>
                  <a:stCxn id="1274" idx="6"/>
                  <a:endCxn id="1268" idx="2"/>
                </p:cNvCxnSpPr>
                <p:nvPr/>
              </p:nvCxnSpPr>
              <p:spPr>
                <a:xfrm flipV="1">
                  <a:off x="3200428" y="3599312"/>
                  <a:ext cx="334109" cy="552010"/>
                </a:xfrm>
                <a:prstGeom prst="line">
                  <a:avLst/>
                </a:prstGeom>
                <a:solidFill>
                  <a:schemeClr val="accent6">
                    <a:lumMod val="7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78" name="直接连接符 1277"/>
                <p:cNvCxnSpPr>
                  <a:stCxn id="1266" idx="6"/>
                  <a:endCxn id="1270" idx="2"/>
                </p:cNvCxnSpPr>
                <p:nvPr/>
              </p:nvCxnSpPr>
              <p:spPr>
                <a:xfrm>
                  <a:off x="3202621" y="4710601"/>
                  <a:ext cx="33410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79" name="直接连接符 1278"/>
                <p:cNvCxnSpPr>
                  <a:stCxn id="1266" idx="6"/>
                  <a:endCxn id="1269" idx="2"/>
                </p:cNvCxnSpPr>
                <p:nvPr/>
              </p:nvCxnSpPr>
              <p:spPr>
                <a:xfrm flipV="1">
                  <a:off x="3202621" y="4151322"/>
                  <a:ext cx="331916" cy="55927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80" name="直接连接符 1279"/>
                <p:cNvCxnSpPr>
                  <a:stCxn id="1266" idx="6"/>
                  <a:endCxn id="1268" idx="2"/>
                </p:cNvCxnSpPr>
                <p:nvPr/>
              </p:nvCxnSpPr>
              <p:spPr>
                <a:xfrm flipV="1">
                  <a:off x="3202621" y="3599312"/>
                  <a:ext cx="331916" cy="1111289"/>
                </a:xfrm>
                <a:prstGeom prst="line">
                  <a:avLst/>
                </a:prstGeom>
                <a:solidFill>
                  <a:schemeClr val="accent4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281" name="椭圆 1280"/>
                <p:cNvSpPr/>
                <p:nvPr/>
              </p:nvSpPr>
              <p:spPr>
                <a:xfrm>
                  <a:off x="4091468" y="4287129"/>
                  <a:ext cx="225015" cy="225015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82" name="直接连接符 1281"/>
                <p:cNvCxnSpPr>
                  <a:stCxn id="1268" idx="6"/>
                  <a:endCxn id="1267" idx="2"/>
                </p:cNvCxnSpPr>
                <p:nvPr/>
              </p:nvCxnSpPr>
              <p:spPr>
                <a:xfrm>
                  <a:off x="3759552" y="3599312"/>
                  <a:ext cx="331915" cy="24468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83" name="直接连接符 1282"/>
                <p:cNvCxnSpPr>
                  <a:stCxn id="1268" idx="6"/>
                  <a:endCxn id="1281" idx="2"/>
                </p:cNvCxnSpPr>
                <p:nvPr/>
              </p:nvCxnSpPr>
              <p:spPr>
                <a:xfrm>
                  <a:off x="3759552" y="3599312"/>
                  <a:ext cx="331916" cy="800325"/>
                </a:xfrm>
                <a:prstGeom prst="line">
                  <a:avLst/>
                </a:prstGeom>
                <a:solidFill>
                  <a:schemeClr val="accent6">
                    <a:lumMod val="7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84" name="直接连接符 1283"/>
                <p:cNvCxnSpPr>
                  <a:stCxn id="1269" idx="6"/>
                  <a:endCxn id="1267" idx="2"/>
                </p:cNvCxnSpPr>
                <p:nvPr/>
              </p:nvCxnSpPr>
              <p:spPr>
                <a:xfrm flipV="1">
                  <a:off x="3759552" y="3843993"/>
                  <a:ext cx="331915" cy="30732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85" name="直接连接符 1284"/>
                <p:cNvCxnSpPr>
                  <a:stCxn id="1269" idx="6"/>
                  <a:endCxn id="1281" idx="2"/>
                </p:cNvCxnSpPr>
                <p:nvPr/>
              </p:nvCxnSpPr>
              <p:spPr>
                <a:xfrm>
                  <a:off x="3759552" y="4151322"/>
                  <a:ext cx="331916" cy="24831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86" name="直接连接符 1285"/>
                <p:cNvCxnSpPr>
                  <a:stCxn id="1270" idx="6"/>
                  <a:endCxn id="1267" idx="2"/>
                </p:cNvCxnSpPr>
                <p:nvPr/>
              </p:nvCxnSpPr>
              <p:spPr>
                <a:xfrm flipV="1">
                  <a:off x="3761745" y="3843993"/>
                  <a:ext cx="329722" cy="866608"/>
                </a:xfrm>
                <a:prstGeom prst="line">
                  <a:avLst/>
                </a:prstGeom>
                <a:solidFill>
                  <a:schemeClr val="accent4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87" name="直接连接符 1286"/>
                <p:cNvCxnSpPr>
                  <a:stCxn id="1270" idx="6"/>
                  <a:endCxn id="1281" idx="2"/>
                </p:cNvCxnSpPr>
                <p:nvPr/>
              </p:nvCxnSpPr>
              <p:spPr>
                <a:xfrm flipV="1">
                  <a:off x="3761745" y="4399637"/>
                  <a:ext cx="329723" cy="31096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90" name="矩形 1289"/>
              <p:cNvSpPr/>
              <p:nvPr/>
            </p:nvSpPr>
            <p:spPr>
              <a:xfrm rot="5400000">
                <a:off x="3993632" y="1844172"/>
                <a:ext cx="156338" cy="15633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91" name="矩形 1290"/>
              <p:cNvSpPr/>
              <p:nvPr/>
            </p:nvSpPr>
            <p:spPr>
              <a:xfrm rot="5400000">
                <a:off x="3993632" y="2000510"/>
                <a:ext cx="156338" cy="156338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35" name="文本框 1334"/>
              <p:cNvSpPr txBox="1"/>
              <p:nvPr/>
            </p:nvSpPr>
            <p:spPr>
              <a:xfrm>
                <a:off x="2142480" y="2297900"/>
                <a:ext cx="218244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50" b="1" i="1" dirty="0">
                    <a:solidFill>
                      <a:srgbClr val="292929"/>
                    </a:solidFill>
                    <a:latin typeface="Noto Serif" panose="02020600060500020200" pitchFamily="18" charset="0"/>
                  </a:rPr>
                  <a:t>Token Confidence</a:t>
                </a:r>
                <a:endParaRPr lang="zh-CN" altLang="en-US" sz="1050" b="1" dirty="0"/>
              </a:p>
              <a:p>
                <a:pPr algn="ctr"/>
                <a:r>
                  <a:rPr lang="en-US" altLang="zh-CN" sz="1050" b="1" i="1" dirty="0">
                    <a:solidFill>
                      <a:srgbClr val="292929"/>
                    </a:solidFill>
                    <a:latin typeface="Noto Serif" panose="02020600060500020200" pitchFamily="18" charset="0"/>
                  </a:rPr>
                  <a:t>&amp; Mask</a:t>
                </a:r>
                <a:endParaRPr lang="zh-CN" altLang="en-US" sz="1050" b="1" dirty="0"/>
              </a:p>
            </p:txBody>
          </p:sp>
        </p:grpSp>
        <p:sp>
          <p:nvSpPr>
            <p:cNvPr id="1338" name="箭头: 圆角右 1337"/>
            <p:cNvSpPr/>
            <p:nvPr/>
          </p:nvSpPr>
          <p:spPr>
            <a:xfrm rot="5400000">
              <a:off x="4849626" y="2013632"/>
              <a:ext cx="580354" cy="504522"/>
            </a:xfrm>
            <a:prstGeom prst="bentArrow">
              <a:avLst>
                <a:gd name="adj1" fmla="val 25000"/>
                <a:gd name="adj2" fmla="val 28226"/>
                <a:gd name="adj3" fmla="val 25000"/>
                <a:gd name="adj4" fmla="val 6656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49" name="矩形: 圆角 1048"/>
            <p:cNvSpPr/>
            <p:nvPr/>
          </p:nvSpPr>
          <p:spPr>
            <a:xfrm>
              <a:off x="3333035" y="2614981"/>
              <a:ext cx="2791830" cy="2377653"/>
            </a:xfrm>
            <a:prstGeom prst="roundRect">
              <a:avLst>
                <a:gd name="adj" fmla="val 8794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59" name="文本框 1058"/>
            <p:cNvSpPr txBox="1"/>
            <p:nvPr/>
          </p:nvSpPr>
          <p:spPr>
            <a:xfrm>
              <a:off x="5143766" y="4697985"/>
              <a:ext cx="1002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5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Token Encoder</a:t>
              </a:r>
              <a:endParaRPr lang="zh-CN" altLang="en-US" sz="1250" b="1" dirty="0"/>
            </a:p>
          </p:txBody>
        </p:sp>
        <p:grpSp>
          <p:nvGrpSpPr>
            <p:cNvPr id="1112" name="组合 1111"/>
            <p:cNvGrpSpPr/>
            <p:nvPr/>
          </p:nvGrpSpPr>
          <p:grpSpPr>
            <a:xfrm rot="5400000">
              <a:off x="4428207" y="4181564"/>
              <a:ext cx="625352" cy="156338"/>
              <a:chOff x="4471262" y="4607292"/>
              <a:chExt cx="625352" cy="156338"/>
            </a:xfrm>
          </p:grpSpPr>
          <p:sp>
            <p:nvSpPr>
              <p:cNvPr id="1108" name="矩形 1107"/>
              <p:cNvSpPr/>
              <p:nvPr/>
            </p:nvSpPr>
            <p:spPr>
              <a:xfrm>
                <a:off x="4471262" y="4607292"/>
                <a:ext cx="156338" cy="156338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09" name="矩形 1108"/>
              <p:cNvSpPr/>
              <p:nvPr/>
            </p:nvSpPr>
            <p:spPr>
              <a:xfrm>
                <a:off x="4627600" y="4607292"/>
                <a:ext cx="156338" cy="156338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10" name="矩形 1109"/>
              <p:cNvSpPr/>
              <p:nvPr/>
            </p:nvSpPr>
            <p:spPr>
              <a:xfrm>
                <a:off x="4783938" y="4607292"/>
                <a:ext cx="156338" cy="15633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11" name="矩形 1110"/>
              <p:cNvSpPr/>
              <p:nvPr/>
            </p:nvSpPr>
            <p:spPr>
              <a:xfrm>
                <a:off x="4940276" y="4607292"/>
                <a:ext cx="156338" cy="156338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134" name="文本框 1133"/>
            <p:cNvSpPr txBox="1"/>
            <p:nvPr/>
          </p:nvSpPr>
          <p:spPr>
            <a:xfrm>
              <a:off x="3441769" y="4623302"/>
              <a:ext cx="1079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Proprioception </a:t>
              </a:r>
              <a:endParaRPr lang="en-US" altLang="zh-CN" sz="9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  <a:p>
              <a:pPr algn="ctr"/>
              <a:r>
                <a:rPr lang="en-US" altLang="zh-CN" sz="9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Encoder</a:t>
              </a:r>
              <a:endParaRPr lang="zh-CN" altLang="en-US" sz="9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</p:txBody>
        </p:sp>
        <p:grpSp>
          <p:nvGrpSpPr>
            <p:cNvPr id="1135" name="组合 1134"/>
            <p:cNvGrpSpPr/>
            <p:nvPr/>
          </p:nvGrpSpPr>
          <p:grpSpPr>
            <a:xfrm>
              <a:off x="3628104" y="3882533"/>
              <a:ext cx="729287" cy="730732"/>
              <a:chOff x="2787870" y="3318764"/>
              <a:chExt cx="1689425" cy="1692771"/>
            </a:xfrm>
          </p:grpSpPr>
          <p:sp>
            <p:nvSpPr>
              <p:cNvPr id="1136" name="矩形: 圆角 1135"/>
              <p:cNvSpPr/>
              <p:nvPr/>
            </p:nvSpPr>
            <p:spPr>
              <a:xfrm>
                <a:off x="2787870" y="3318764"/>
                <a:ext cx="1689425" cy="1692771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37" name="椭圆 1136"/>
              <p:cNvSpPr/>
              <p:nvPr/>
            </p:nvSpPr>
            <p:spPr>
              <a:xfrm>
                <a:off x="2975413" y="3486804"/>
                <a:ext cx="225015" cy="225015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8" name="椭圆 1137"/>
              <p:cNvSpPr/>
              <p:nvPr/>
            </p:nvSpPr>
            <p:spPr>
              <a:xfrm>
                <a:off x="2977606" y="4598093"/>
                <a:ext cx="225015" cy="225015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9" name="椭圆 1138"/>
              <p:cNvSpPr/>
              <p:nvPr/>
            </p:nvSpPr>
            <p:spPr>
              <a:xfrm>
                <a:off x="4091467" y="3731485"/>
                <a:ext cx="225015" cy="225015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0" name="椭圆 1139"/>
              <p:cNvSpPr/>
              <p:nvPr/>
            </p:nvSpPr>
            <p:spPr>
              <a:xfrm>
                <a:off x="3534537" y="3486804"/>
                <a:ext cx="225015" cy="225015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1" name="椭圆 1140"/>
              <p:cNvSpPr/>
              <p:nvPr/>
            </p:nvSpPr>
            <p:spPr>
              <a:xfrm>
                <a:off x="3534537" y="4038814"/>
                <a:ext cx="225015" cy="225015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2" name="椭圆 1141"/>
              <p:cNvSpPr/>
              <p:nvPr/>
            </p:nvSpPr>
            <p:spPr>
              <a:xfrm>
                <a:off x="3536730" y="4598093"/>
                <a:ext cx="225015" cy="225015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43" name="直接连接符 1142"/>
              <p:cNvCxnSpPr>
                <a:stCxn id="1137" idx="6"/>
                <a:endCxn id="1142" idx="2"/>
              </p:cNvCxnSpPr>
              <p:nvPr/>
            </p:nvCxnSpPr>
            <p:spPr>
              <a:xfrm>
                <a:off x="3200428" y="3599312"/>
                <a:ext cx="336302" cy="111128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4" name="直接连接符 1143"/>
              <p:cNvCxnSpPr>
                <a:stCxn id="1137" idx="6"/>
                <a:endCxn id="1141" idx="2"/>
              </p:cNvCxnSpPr>
              <p:nvPr/>
            </p:nvCxnSpPr>
            <p:spPr>
              <a:xfrm>
                <a:off x="3200428" y="3599312"/>
                <a:ext cx="334109" cy="55201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5" name="直接连接符 1144"/>
              <p:cNvCxnSpPr>
                <a:stCxn id="1137" idx="6"/>
                <a:endCxn id="1140" idx="2"/>
              </p:cNvCxnSpPr>
              <p:nvPr/>
            </p:nvCxnSpPr>
            <p:spPr>
              <a:xfrm>
                <a:off x="3200428" y="3599312"/>
                <a:ext cx="33410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46" name="椭圆 1145"/>
              <p:cNvSpPr/>
              <p:nvPr/>
            </p:nvSpPr>
            <p:spPr>
              <a:xfrm>
                <a:off x="2975413" y="4038814"/>
                <a:ext cx="225015" cy="225015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47" name="直接连接符 1146"/>
              <p:cNvCxnSpPr>
                <a:stCxn id="1146" idx="6"/>
                <a:endCxn id="1142" idx="2"/>
              </p:cNvCxnSpPr>
              <p:nvPr/>
            </p:nvCxnSpPr>
            <p:spPr>
              <a:xfrm>
                <a:off x="3200428" y="4151322"/>
                <a:ext cx="336302" cy="55927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8" name="直接连接符 1147"/>
              <p:cNvCxnSpPr>
                <a:stCxn id="1146" idx="6"/>
                <a:endCxn id="1141" idx="2"/>
              </p:cNvCxnSpPr>
              <p:nvPr/>
            </p:nvCxnSpPr>
            <p:spPr>
              <a:xfrm>
                <a:off x="3200428" y="4151322"/>
                <a:ext cx="33410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9" name="直接连接符 1148"/>
              <p:cNvCxnSpPr>
                <a:stCxn id="1146" idx="6"/>
                <a:endCxn id="1140" idx="2"/>
              </p:cNvCxnSpPr>
              <p:nvPr/>
            </p:nvCxnSpPr>
            <p:spPr>
              <a:xfrm flipV="1">
                <a:off x="3200428" y="3599312"/>
                <a:ext cx="334109" cy="55201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0" name="直接连接符 1149"/>
              <p:cNvCxnSpPr>
                <a:stCxn id="1138" idx="6"/>
                <a:endCxn id="1142" idx="2"/>
              </p:cNvCxnSpPr>
              <p:nvPr/>
            </p:nvCxnSpPr>
            <p:spPr>
              <a:xfrm>
                <a:off x="3202621" y="4710601"/>
                <a:ext cx="33410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1" name="直接连接符 1150"/>
              <p:cNvCxnSpPr>
                <a:stCxn id="1138" idx="6"/>
                <a:endCxn id="1141" idx="2"/>
              </p:cNvCxnSpPr>
              <p:nvPr/>
            </p:nvCxnSpPr>
            <p:spPr>
              <a:xfrm flipV="1">
                <a:off x="3202621" y="4151322"/>
                <a:ext cx="331916" cy="55927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2" name="直接连接符 1151"/>
              <p:cNvCxnSpPr>
                <a:stCxn id="1138" idx="6"/>
                <a:endCxn id="1140" idx="2"/>
              </p:cNvCxnSpPr>
              <p:nvPr/>
            </p:nvCxnSpPr>
            <p:spPr>
              <a:xfrm flipV="1">
                <a:off x="3202621" y="3599312"/>
                <a:ext cx="331916" cy="1111289"/>
              </a:xfrm>
              <a:prstGeom prst="line">
                <a:avLst/>
              </a:prstGeom>
              <a:solidFill>
                <a:schemeClr val="accent4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53" name="椭圆 1152"/>
              <p:cNvSpPr/>
              <p:nvPr/>
            </p:nvSpPr>
            <p:spPr>
              <a:xfrm>
                <a:off x="4091468" y="4287129"/>
                <a:ext cx="225015" cy="225015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54" name="直接连接符 1153"/>
              <p:cNvCxnSpPr>
                <a:stCxn id="1140" idx="6"/>
                <a:endCxn id="1139" idx="2"/>
              </p:cNvCxnSpPr>
              <p:nvPr/>
            </p:nvCxnSpPr>
            <p:spPr>
              <a:xfrm>
                <a:off x="3759552" y="3599312"/>
                <a:ext cx="331915" cy="2446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5" name="直接连接符 1154"/>
              <p:cNvCxnSpPr>
                <a:stCxn id="1140" idx="6"/>
                <a:endCxn id="1153" idx="2"/>
              </p:cNvCxnSpPr>
              <p:nvPr/>
            </p:nvCxnSpPr>
            <p:spPr>
              <a:xfrm>
                <a:off x="3759552" y="3599312"/>
                <a:ext cx="331916" cy="800325"/>
              </a:xfrm>
              <a:prstGeom prst="line">
                <a:avLst/>
              </a:prstGeom>
              <a:solidFill>
                <a:schemeClr val="accent4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6" name="直接连接符 1155"/>
              <p:cNvCxnSpPr>
                <a:stCxn id="1141" idx="6"/>
                <a:endCxn id="1139" idx="2"/>
              </p:cNvCxnSpPr>
              <p:nvPr/>
            </p:nvCxnSpPr>
            <p:spPr>
              <a:xfrm flipV="1">
                <a:off x="3759552" y="3843993"/>
                <a:ext cx="331915" cy="30732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7" name="直接连接符 1156"/>
              <p:cNvCxnSpPr>
                <a:stCxn id="1141" idx="6"/>
                <a:endCxn id="1153" idx="2"/>
              </p:cNvCxnSpPr>
              <p:nvPr/>
            </p:nvCxnSpPr>
            <p:spPr>
              <a:xfrm>
                <a:off x="3759552" y="4151322"/>
                <a:ext cx="331916" cy="24831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8" name="直接连接符 1157"/>
              <p:cNvCxnSpPr>
                <a:stCxn id="1142" idx="6"/>
                <a:endCxn id="1139" idx="2"/>
              </p:cNvCxnSpPr>
              <p:nvPr/>
            </p:nvCxnSpPr>
            <p:spPr>
              <a:xfrm flipV="1">
                <a:off x="3761745" y="3843993"/>
                <a:ext cx="329722" cy="866608"/>
              </a:xfrm>
              <a:prstGeom prst="line">
                <a:avLst/>
              </a:prstGeom>
              <a:solidFill>
                <a:schemeClr val="accent4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9" name="直接连接符 1158"/>
              <p:cNvCxnSpPr>
                <a:stCxn id="1142" idx="6"/>
                <a:endCxn id="1153" idx="2"/>
              </p:cNvCxnSpPr>
              <p:nvPr/>
            </p:nvCxnSpPr>
            <p:spPr>
              <a:xfrm flipV="1">
                <a:off x="3761745" y="4399637"/>
                <a:ext cx="329723" cy="31096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67" name="组合 1166"/>
            <p:cNvGrpSpPr/>
            <p:nvPr/>
          </p:nvGrpSpPr>
          <p:grpSpPr>
            <a:xfrm>
              <a:off x="3500832" y="3057133"/>
              <a:ext cx="362601" cy="685449"/>
              <a:chOff x="2867739" y="5444807"/>
              <a:chExt cx="362601" cy="685449"/>
            </a:xfrm>
            <a:solidFill>
              <a:schemeClr val="accent5">
                <a:lumMod val="40000"/>
                <a:lumOff val="60000"/>
              </a:schemeClr>
            </a:solidFill>
          </p:grpSpPr>
          <p:sp>
            <p:nvSpPr>
              <p:cNvPr id="1164" name="立方体 1163"/>
              <p:cNvSpPr/>
              <p:nvPr/>
            </p:nvSpPr>
            <p:spPr>
              <a:xfrm>
                <a:off x="2867739" y="5444807"/>
                <a:ext cx="255779" cy="685449"/>
              </a:xfrm>
              <a:prstGeom prst="cube">
                <a:avLst>
                  <a:gd name="adj" fmla="val 85071"/>
                </a:avLst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65" name="立方体 1164"/>
              <p:cNvSpPr/>
              <p:nvPr/>
            </p:nvSpPr>
            <p:spPr>
              <a:xfrm>
                <a:off x="2974063" y="5510903"/>
                <a:ext cx="206100" cy="552318"/>
              </a:xfrm>
              <a:prstGeom prst="cube">
                <a:avLst>
                  <a:gd name="adj" fmla="val 85071"/>
                </a:avLst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66" name="立方体 1165"/>
              <p:cNvSpPr/>
              <p:nvPr/>
            </p:nvSpPr>
            <p:spPr>
              <a:xfrm>
                <a:off x="3079336" y="5581743"/>
                <a:ext cx="151004" cy="404669"/>
              </a:xfrm>
              <a:prstGeom prst="cube">
                <a:avLst>
                  <a:gd name="adj" fmla="val 85071"/>
                </a:avLst>
              </a:prstGeom>
              <a:grpFill/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168" name="文本框 1167"/>
            <p:cNvSpPr txBox="1"/>
            <p:nvPr/>
          </p:nvSpPr>
          <p:spPr>
            <a:xfrm>
              <a:off x="3361735" y="2712484"/>
              <a:ext cx="690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Depth </a:t>
              </a:r>
              <a:endParaRPr lang="en-US" altLang="zh-CN" sz="9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  <a:p>
              <a:pPr algn="ctr"/>
              <a:r>
                <a:rPr lang="en-US" altLang="zh-CN" sz="9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Encoder</a:t>
              </a:r>
              <a:endParaRPr lang="zh-CN" altLang="en-US" sz="9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</p:txBody>
        </p:sp>
        <p:grpSp>
          <p:nvGrpSpPr>
            <p:cNvPr id="1201" name="组合 1200"/>
            <p:cNvGrpSpPr/>
            <p:nvPr/>
          </p:nvGrpSpPr>
          <p:grpSpPr>
            <a:xfrm>
              <a:off x="4200905" y="3127446"/>
              <a:ext cx="618948" cy="625352"/>
              <a:chOff x="4367824" y="1776504"/>
              <a:chExt cx="618948" cy="625352"/>
            </a:xfrm>
          </p:grpSpPr>
          <p:sp>
            <p:nvSpPr>
              <p:cNvPr id="1171" name="矩形 1170"/>
              <p:cNvSpPr/>
              <p:nvPr/>
            </p:nvSpPr>
            <p:spPr>
              <a:xfrm rot="5400000">
                <a:off x="4367824" y="1776504"/>
                <a:ext cx="156338" cy="15633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72" name="矩形 1171"/>
              <p:cNvSpPr/>
              <p:nvPr/>
            </p:nvSpPr>
            <p:spPr>
              <a:xfrm rot="5400000">
                <a:off x="4367824" y="1932842"/>
                <a:ext cx="156338" cy="15633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73" name="矩形 1172"/>
              <p:cNvSpPr/>
              <p:nvPr/>
            </p:nvSpPr>
            <p:spPr>
              <a:xfrm rot="5400000">
                <a:off x="4367824" y="2089180"/>
                <a:ext cx="156338" cy="15633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74" name="矩形 1173"/>
              <p:cNvSpPr/>
              <p:nvPr/>
            </p:nvSpPr>
            <p:spPr>
              <a:xfrm rot="5400000">
                <a:off x="4367824" y="2245518"/>
                <a:ext cx="156338" cy="156338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79" name="矩形 1178"/>
              <p:cNvSpPr/>
              <p:nvPr/>
            </p:nvSpPr>
            <p:spPr>
              <a:xfrm rot="5400000">
                <a:off x="4520960" y="1776504"/>
                <a:ext cx="156338" cy="15633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80" name="矩形 1179"/>
              <p:cNvSpPr/>
              <p:nvPr/>
            </p:nvSpPr>
            <p:spPr>
              <a:xfrm rot="5400000">
                <a:off x="4520960" y="1932842"/>
                <a:ext cx="156338" cy="156338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81" name="矩形 1180"/>
              <p:cNvSpPr/>
              <p:nvPr/>
            </p:nvSpPr>
            <p:spPr>
              <a:xfrm rot="5400000">
                <a:off x="4520960" y="2089180"/>
                <a:ext cx="156338" cy="15633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82" name="矩形 1181"/>
              <p:cNvSpPr/>
              <p:nvPr/>
            </p:nvSpPr>
            <p:spPr>
              <a:xfrm rot="5400000">
                <a:off x="4520960" y="2245518"/>
                <a:ext cx="156338" cy="15633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93" name="矩形 1192"/>
              <p:cNvSpPr/>
              <p:nvPr/>
            </p:nvSpPr>
            <p:spPr>
              <a:xfrm rot="5400000">
                <a:off x="4677298" y="1776504"/>
                <a:ext cx="156338" cy="15633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94" name="矩形 1193"/>
              <p:cNvSpPr/>
              <p:nvPr/>
            </p:nvSpPr>
            <p:spPr>
              <a:xfrm rot="5400000">
                <a:off x="4677298" y="1932842"/>
                <a:ext cx="156338" cy="15633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95" name="矩形 1194"/>
              <p:cNvSpPr/>
              <p:nvPr/>
            </p:nvSpPr>
            <p:spPr>
              <a:xfrm rot="5400000">
                <a:off x="4677298" y="2089180"/>
                <a:ext cx="156338" cy="15633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96" name="矩形 1195"/>
              <p:cNvSpPr/>
              <p:nvPr/>
            </p:nvSpPr>
            <p:spPr>
              <a:xfrm rot="5400000">
                <a:off x="4677298" y="2245518"/>
                <a:ext cx="156338" cy="156338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97" name="矩形 1196"/>
              <p:cNvSpPr/>
              <p:nvPr/>
            </p:nvSpPr>
            <p:spPr>
              <a:xfrm rot="5400000">
                <a:off x="4830434" y="1776504"/>
                <a:ext cx="156338" cy="156338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98" name="矩形 1197"/>
              <p:cNvSpPr/>
              <p:nvPr/>
            </p:nvSpPr>
            <p:spPr>
              <a:xfrm rot="5400000">
                <a:off x="4830434" y="1932842"/>
                <a:ext cx="156338" cy="156338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99" name="矩形 1198"/>
              <p:cNvSpPr/>
              <p:nvPr/>
            </p:nvSpPr>
            <p:spPr>
              <a:xfrm rot="5400000">
                <a:off x="4830434" y="2089180"/>
                <a:ext cx="156338" cy="156338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00" name="矩形 1199"/>
              <p:cNvSpPr/>
              <p:nvPr/>
            </p:nvSpPr>
            <p:spPr>
              <a:xfrm rot="5400000">
                <a:off x="4830434" y="2245518"/>
                <a:ext cx="156338" cy="156338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1202" name="直接箭头连接符 1201"/>
            <p:cNvCxnSpPr/>
            <p:nvPr/>
          </p:nvCxnSpPr>
          <p:spPr>
            <a:xfrm>
              <a:off x="3952581" y="3424302"/>
              <a:ext cx="199940" cy="0"/>
            </a:xfrm>
            <a:prstGeom prst="straightConnector1">
              <a:avLst/>
            </a:prstGeom>
            <a:ln w="38100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236" name="组合 1235"/>
            <p:cNvGrpSpPr/>
            <p:nvPr/>
          </p:nvGrpSpPr>
          <p:grpSpPr>
            <a:xfrm>
              <a:off x="5130422" y="2756097"/>
              <a:ext cx="393776" cy="1656959"/>
              <a:chOff x="5066236" y="2935564"/>
              <a:chExt cx="393776" cy="1656959"/>
            </a:xfrm>
          </p:grpSpPr>
          <p:sp>
            <p:nvSpPr>
              <p:cNvPr id="1230" name="梯形 1067"/>
              <p:cNvSpPr/>
              <p:nvPr/>
            </p:nvSpPr>
            <p:spPr>
              <a:xfrm rot="5400000">
                <a:off x="5065373" y="2936427"/>
                <a:ext cx="290073" cy="288347"/>
              </a:xfrm>
              <a:prstGeom prst="roundRect">
                <a:avLst>
                  <a:gd name="adj" fmla="val 28304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31" name="梯形 1067"/>
              <p:cNvSpPr/>
              <p:nvPr/>
            </p:nvSpPr>
            <p:spPr>
              <a:xfrm rot="5400000">
                <a:off x="5065373" y="4303313"/>
                <a:ext cx="290073" cy="288347"/>
              </a:xfrm>
              <a:prstGeom prst="roundRect">
                <a:avLst>
                  <a:gd name="adj" fmla="val 28304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32" name="梯形 1067"/>
              <p:cNvSpPr/>
              <p:nvPr/>
            </p:nvSpPr>
            <p:spPr>
              <a:xfrm rot="5400000">
                <a:off x="5065373" y="3291715"/>
                <a:ext cx="290073" cy="288347"/>
              </a:xfrm>
              <a:prstGeom prst="roundRect">
                <a:avLst>
                  <a:gd name="adj" fmla="val 28304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33" name="梯形 1067"/>
              <p:cNvSpPr/>
              <p:nvPr/>
            </p:nvSpPr>
            <p:spPr>
              <a:xfrm rot="5400000">
                <a:off x="5065373" y="3651021"/>
                <a:ext cx="290073" cy="288347"/>
              </a:xfrm>
              <a:prstGeom prst="roundRect">
                <a:avLst>
                  <a:gd name="adj" fmla="val 28304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35" name="文本框 1234"/>
              <p:cNvSpPr txBox="1"/>
              <p:nvPr/>
            </p:nvSpPr>
            <p:spPr>
              <a:xfrm rot="5400000">
                <a:off x="5039397" y="4006997"/>
                <a:ext cx="4718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b="1" i="1" dirty="0">
                    <a:solidFill>
                      <a:srgbClr val="292929"/>
                    </a:solidFill>
                    <a:latin typeface="Noto Serif" panose="02020600060500020200" pitchFamily="18" charset="0"/>
                  </a:rPr>
                  <a:t>...</a:t>
                </a:r>
                <a:endParaRPr lang="en-US" altLang="zh-CN" sz="1800" b="1" i="1" dirty="0">
                  <a:solidFill>
                    <a:srgbClr val="292929"/>
                  </a:solidFill>
                  <a:latin typeface="Noto Serif" panose="02020600060500020200" pitchFamily="18" charset="0"/>
                </a:endParaRPr>
              </a:p>
            </p:txBody>
          </p:sp>
        </p:grpSp>
        <p:sp>
          <p:nvSpPr>
            <p:cNvPr id="1308" name="左大括号 1307"/>
            <p:cNvSpPr/>
            <p:nvPr/>
          </p:nvSpPr>
          <p:spPr>
            <a:xfrm>
              <a:off x="4887542" y="3114238"/>
              <a:ext cx="206288" cy="636271"/>
            </a:xfrm>
            <a:prstGeom prst="leftBrace">
              <a:avLst>
                <a:gd name="adj1" fmla="val 40200"/>
                <a:gd name="adj2" fmla="val 46402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10" name="直接箭头连接符 1309"/>
            <p:cNvCxnSpPr/>
            <p:nvPr/>
          </p:nvCxnSpPr>
          <p:spPr>
            <a:xfrm>
              <a:off x="4887542" y="4267326"/>
              <a:ext cx="206288" cy="0"/>
            </a:xfrm>
            <a:prstGeom prst="straightConnector1">
              <a:avLst/>
            </a:prstGeom>
            <a:ln w="38100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3" name="直接箭头连接符 1312"/>
            <p:cNvCxnSpPr/>
            <p:nvPr/>
          </p:nvCxnSpPr>
          <p:spPr>
            <a:xfrm>
              <a:off x="4418249" y="4267326"/>
              <a:ext cx="206288" cy="0"/>
            </a:xfrm>
            <a:prstGeom prst="straightConnector1">
              <a:avLst/>
            </a:prstGeom>
            <a:ln w="38100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39" name="文本框 1338"/>
            <p:cNvSpPr txBox="1"/>
            <p:nvPr/>
          </p:nvSpPr>
          <p:spPr>
            <a:xfrm>
              <a:off x="4243187" y="2726385"/>
              <a:ext cx="928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Image Tokens</a:t>
              </a:r>
              <a:endParaRPr lang="zh-CN" altLang="en-US" sz="8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  <a:p>
              <a:pPr algn="ctr"/>
              <a:r>
                <a:rPr lang="en-US" altLang="zh-CN" sz="8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+ Vision Flag</a:t>
              </a:r>
              <a:endParaRPr lang="zh-CN" altLang="en-US" sz="8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</p:txBody>
        </p:sp>
        <p:sp>
          <p:nvSpPr>
            <p:cNvPr id="1397" name="箭头: 右 1396"/>
            <p:cNvSpPr/>
            <p:nvPr/>
          </p:nvSpPr>
          <p:spPr>
            <a:xfrm>
              <a:off x="4887543" y="1555290"/>
              <a:ext cx="585698" cy="307777"/>
            </a:xfrm>
            <a:prstGeom prst="rightArrow">
              <a:avLst>
                <a:gd name="adj1" fmla="val 39097"/>
                <a:gd name="adj2" fmla="val 5361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33" name="矩形: 圆角 1332"/>
            <p:cNvSpPr/>
            <p:nvPr/>
          </p:nvSpPr>
          <p:spPr>
            <a:xfrm>
              <a:off x="5529819" y="1106197"/>
              <a:ext cx="1720060" cy="1141653"/>
            </a:xfrm>
            <a:prstGeom prst="roundRect">
              <a:avLst>
                <a:gd name="adj" fmla="val 14737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34" name="文本框 1333"/>
            <p:cNvSpPr txBox="1"/>
            <p:nvPr/>
          </p:nvSpPr>
          <p:spPr>
            <a:xfrm>
              <a:off x="6458468" y="1929406"/>
              <a:ext cx="8772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Router</a:t>
              </a:r>
              <a:endParaRPr lang="zh-CN" altLang="en-US" sz="1400" b="1" dirty="0"/>
            </a:p>
          </p:txBody>
        </p:sp>
        <p:grpSp>
          <p:nvGrpSpPr>
            <p:cNvPr id="1371" name="组合 1370"/>
            <p:cNvGrpSpPr/>
            <p:nvPr/>
          </p:nvGrpSpPr>
          <p:grpSpPr>
            <a:xfrm>
              <a:off x="5691817" y="1296969"/>
              <a:ext cx="579761" cy="840122"/>
              <a:chOff x="3309127" y="3318764"/>
              <a:chExt cx="1168167" cy="1692771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372" name="矩形: 圆角 1371"/>
              <p:cNvSpPr/>
              <p:nvPr/>
            </p:nvSpPr>
            <p:spPr>
              <a:xfrm>
                <a:off x="3309127" y="3318764"/>
                <a:ext cx="1168167" cy="1692771"/>
              </a:xfrm>
              <a:prstGeom prst="roundRect">
                <a:avLst/>
              </a:prstGeom>
              <a:grp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75" name="椭圆 1374"/>
              <p:cNvSpPr/>
              <p:nvPr/>
            </p:nvSpPr>
            <p:spPr>
              <a:xfrm>
                <a:off x="4091467" y="3731485"/>
                <a:ext cx="225015" cy="22501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6" name="椭圆 1375"/>
              <p:cNvSpPr/>
              <p:nvPr/>
            </p:nvSpPr>
            <p:spPr>
              <a:xfrm>
                <a:off x="3534537" y="3486804"/>
                <a:ext cx="225015" cy="22501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7" name="椭圆 1376"/>
              <p:cNvSpPr/>
              <p:nvPr/>
            </p:nvSpPr>
            <p:spPr>
              <a:xfrm>
                <a:off x="3534537" y="4038814"/>
                <a:ext cx="225015" cy="22501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8" name="椭圆 1377"/>
              <p:cNvSpPr/>
              <p:nvPr/>
            </p:nvSpPr>
            <p:spPr>
              <a:xfrm>
                <a:off x="3536730" y="4598093"/>
                <a:ext cx="225015" cy="22501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9" name="椭圆 1388"/>
              <p:cNvSpPr/>
              <p:nvPr/>
            </p:nvSpPr>
            <p:spPr>
              <a:xfrm>
                <a:off x="4091468" y="4287129"/>
                <a:ext cx="225015" cy="22501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90" name="直接连接符 1389"/>
              <p:cNvCxnSpPr>
                <a:stCxn id="1376" idx="6"/>
                <a:endCxn id="1375" idx="2"/>
              </p:cNvCxnSpPr>
              <p:nvPr/>
            </p:nvCxnSpPr>
            <p:spPr>
              <a:xfrm>
                <a:off x="3759552" y="3599312"/>
                <a:ext cx="331915" cy="244681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1" name="直接连接符 1390"/>
              <p:cNvCxnSpPr>
                <a:stCxn id="1376" idx="6"/>
                <a:endCxn id="1389" idx="2"/>
              </p:cNvCxnSpPr>
              <p:nvPr/>
            </p:nvCxnSpPr>
            <p:spPr>
              <a:xfrm>
                <a:off x="3759552" y="3599312"/>
                <a:ext cx="331916" cy="800325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2" name="直接连接符 1391"/>
              <p:cNvCxnSpPr>
                <a:stCxn id="1377" idx="6"/>
                <a:endCxn id="1375" idx="2"/>
              </p:cNvCxnSpPr>
              <p:nvPr/>
            </p:nvCxnSpPr>
            <p:spPr>
              <a:xfrm flipV="1">
                <a:off x="3759552" y="3843993"/>
                <a:ext cx="331915" cy="307329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3" name="直接连接符 1392"/>
              <p:cNvCxnSpPr>
                <a:stCxn id="1377" idx="6"/>
                <a:endCxn id="1389" idx="2"/>
              </p:cNvCxnSpPr>
              <p:nvPr/>
            </p:nvCxnSpPr>
            <p:spPr>
              <a:xfrm>
                <a:off x="3759552" y="4151322"/>
                <a:ext cx="331916" cy="248315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4" name="直接连接符 1393"/>
              <p:cNvCxnSpPr>
                <a:stCxn id="1378" idx="6"/>
                <a:endCxn id="1375" idx="2"/>
              </p:cNvCxnSpPr>
              <p:nvPr/>
            </p:nvCxnSpPr>
            <p:spPr>
              <a:xfrm flipV="1">
                <a:off x="3761745" y="3843993"/>
                <a:ext cx="329722" cy="86660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5" name="直接连接符 1394"/>
              <p:cNvCxnSpPr>
                <a:stCxn id="1378" idx="6"/>
                <a:endCxn id="1389" idx="2"/>
              </p:cNvCxnSpPr>
              <p:nvPr/>
            </p:nvCxnSpPr>
            <p:spPr>
              <a:xfrm flipV="1">
                <a:off x="3761745" y="4399637"/>
                <a:ext cx="329723" cy="310964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98" name="直接箭头连接符 1397"/>
            <p:cNvCxnSpPr/>
            <p:nvPr/>
          </p:nvCxnSpPr>
          <p:spPr>
            <a:xfrm>
              <a:off x="6344698" y="1694019"/>
              <a:ext cx="226202" cy="0"/>
            </a:xfrm>
            <a:prstGeom prst="straightConnector1">
              <a:avLst/>
            </a:prstGeom>
            <a:ln w="38100">
              <a:prstDash val="soli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02" name="组合 1401"/>
            <p:cNvGrpSpPr/>
            <p:nvPr/>
          </p:nvGrpSpPr>
          <p:grpSpPr>
            <a:xfrm rot="16200000">
              <a:off x="6641916" y="1438466"/>
              <a:ext cx="434594" cy="476108"/>
              <a:chOff x="6507819" y="1757960"/>
              <a:chExt cx="428119" cy="469014"/>
            </a:xfrm>
          </p:grpSpPr>
          <p:sp>
            <p:nvSpPr>
              <p:cNvPr id="1399" name="矩形 1398"/>
              <p:cNvSpPr/>
              <p:nvPr/>
            </p:nvSpPr>
            <p:spPr>
              <a:xfrm rot="5400000">
                <a:off x="6643710" y="1622069"/>
                <a:ext cx="156338" cy="428119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00" name="矩形 1399"/>
              <p:cNvSpPr/>
              <p:nvPr/>
            </p:nvSpPr>
            <p:spPr>
              <a:xfrm rot="5400000">
                <a:off x="6507820" y="1914298"/>
                <a:ext cx="156338" cy="156338"/>
              </a:xfrm>
              <a:prstGeom prst="rect">
                <a:avLst/>
              </a:prstGeom>
              <a:solidFill>
                <a:schemeClr val="accent4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01" name="矩形 1400"/>
              <p:cNvSpPr/>
              <p:nvPr/>
            </p:nvSpPr>
            <p:spPr>
              <a:xfrm rot="5400000">
                <a:off x="6560434" y="2018022"/>
                <a:ext cx="156338" cy="26156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ns2:AlternateContent>
          <ns2:Choice Requires="a14">
            <p:sp>
              <p:nvSpPr>
                <p:cNvPr id="1073" name="文本框 1072"/>
                <p:cNvSpPr txBox="1"/>
                <p:nvPr/>
              </p:nvSpPr>
              <p:spPr>
                <a:xfrm>
                  <a:off x="2615668" y="3872329"/>
                  <a:ext cx="624570" cy="3885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ns3:m>
                    <ns4:oMathPara>
                      <ns4:oMathParaPr>
                        <ns4:jc ns4:val="centerGroup"/>
                      </ns4:oMathParaPr>
                      <ns4:oMath>
                        <ns4:sSubSup>
                          <ns4:sSubSupPr>
                            <ns4:ctrlP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ns4:ctrlPr>
                          </ns4:sSubSupPr>
                          <ns4:e>
                            <ns4:r>
                              <a:rPr lang="en-US" altLang="zh-CN" sz="1800" b="1" i="1" dirty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𝑶</ns4:t>
                            </ns4:r>
                          </ns4:e>
                          <ns4:sub>
                            <ns4:r>
                              <a:rPr lang="en-US" altLang="zh-CN" sz="1800" b="1" i="1" dirty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𝒕</ns4:t>
                            </ns4:r>
                          </ns4:sub>
                          <ns4:sup>
                            <ns4: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𝟏𝟎</ns4:t>
                            </ns4:r>
                          </ns4:sup>
                        </ns4:sSubSup>
                      </ns4:oMath>
                    </ns4:oMathPara>
                  </ns3:m>
                  <a:endParaRPr lang="zh-CN" altLang="en-US" dirty="0"/>
                </a:p>
              </p:txBody>
            </p:sp>
          </ns2:Choice>
          <ns2:Fallback>
            <p:sp>
              <p:nvSpPr>
                <p:cNvPr id="1073" name="文本框 10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5668" y="3872329"/>
                  <a:ext cx="624570" cy="388568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ns2:Fallback>
        </ns2:AlternateContent>
        <p:sp>
          <p:nvSpPr>
            <p:cNvPr id="1426" name="箭头: 右 1425"/>
            <p:cNvSpPr/>
            <p:nvPr/>
          </p:nvSpPr>
          <p:spPr>
            <a:xfrm rot="16200000">
              <a:off x="1686483" y="2497335"/>
              <a:ext cx="193968" cy="221438"/>
            </a:xfrm>
            <a:prstGeom prst="rightArrow">
              <a:avLst>
                <a:gd name="adj1" fmla="val 39097"/>
                <a:gd name="adj2" fmla="val 5361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27" name="箭头: 右 1426"/>
            <p:cNvSpPr/>
            <p:nvPr/>
          </p:nvSpPr>
          <p:spPr>
            <a:xfrm>
              <a:off x="2646090" y="3309258"/>
              <a:ext cx="628203" cy="221438"/>
            </a:xfrm>
            <a:prstGeom prst="rightArrow">
              <a:avLst>
                <a:gd name="adj1" fmla="val 39097"/>
                <a:gd name="adj2" fmla="val 53612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28" name="箭头: 右 1427"/>
            <p:cNvSpPr/>
            <p:nvPr/>
          </p:nvSpPr>
          <p:spPr>
            <a:xfrm>
              <a:off x="2646090" y="4208491"/>
              <a:ext cx="624570" cy="221438"/>
            </a:xfrm>
            <a:prstGeom prst="rightArrow">
              <a:avLst>
                <a:gd name="adj1" fmla="val 39097"/>
                <a:gd name="adj2" fmla="val 53612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29" name="箭头: 圆角右 1428"/>
            <p:cNvSpPr/>
            <p:nvPr/>
          </p:nvSpPr>
          <p:spPr>
            <a:xfrm>
              <a:off x="943156" y="1121357"/>
              <a:ext cx="4530084" cy="1570222"/>
            </a:xfrm>
            <a:prstGeom prst="bentArrow">
              <a:avLst>
                <a:gd name="adj1" fmla="val 6697"/>
                <a:gd name="adj2" fmla="val 8718"/>
                <a:gd name="adj3" fmla="val 10237"/>
                <a:gd name="adj4" fmla="val 1539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ns2:AlternateContent>
          <ns2:Choice Requires="a14">
            <p:sp>
              <p:nvSpPr>
                <p:cNvPr id="1431" name="文本框 1430"/>
                <p:cNvSpPr txBox="1"/>
                <p:nvPr/>
              </p:nvSpPr>
              <p:spPr>
                <a:xfrm>
                  <a:off x="4912877" y="818826"/>
                  <a:ext cx="51768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ns3:m>
                    <ns4:oMathPara>
                      <ns4:oMathParaPr>
                        <ns4:jc ns4:val="centerGroup"/>
                      </ns4:oMathParaPr>
                      <ns4:oMath>
                        <ns4:sSub>
                          <ns4:sSubPr>
                            <ns4:ctrlP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ns4:ctrlPr>
                          </ns4:sSubPr>
                          <ns4:e>
                            <ns4:r>
                              <a:rPr lang="en-US" altLang="zh-CN" sz="1800" b="1" i="1" dirty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𝑶</ns4:t>
                            </ns4:r>
                          </ns4:e>
                          <ns4:sub>
                            <ns4: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𝒕</ns4:t>
                            </ns4:r>
                          </ns4:sub>
                        </ns4:sSub>
                      </ns4:oMath>
                    </ns4:oMathPara>
                  </ns3:m>
                  <a:endParaRPr lang="zh-CN" altLang="en-US" dirty="0"/>
                </a:p>
              </p:txBody>
            </p:sp>
          </ns2:Choice>
          <ns2:Fallback>
            <p:sp>
              <p:nvSpPr>
                <p:cNvPr id="1431" name="文本框 14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2877" y="818826"/>
                  <a:ext cx="517683" cy="369332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ns2:Fallback>
        </ns2:AlternateContent>
        <ns2:AlternateContent>
          <ns2:Choice Requires="a14">
            <p:sp>
              <p:nvSpPr>
                <p:cNvPr id="1432" name="文本框 1431"/>
                <p:cNvSpPr txBox="1"/>
                <p:nvPr/>
              </p:nvSpPr>
              <p:spPr>
                <a:xfrm>
                  <a:off x="8412206" y="4198622"/>
                  <a:ext cx="51768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ns3:m>
                    <ns4:oMathPara>
                      <ns4:oMathParaPr>
                        <ns4:jc ns4:val="centerGroup"/>
                      </ns4:oMathParaPr>
                      <ns4:oMath>
                        <ns4:sSub>
                          <ns4:sSubPr>
                            <ns4:ctrlP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ns4:ctrlPr>
                          </ns4:sSubPr>
                          <ns4:e>
                            <ns4:r>
                              <a:rPr lang="en-US" altLang="zh-CN" sz="1800" b="1" i="1" dirty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𝑶</ns4:t>
                            </ns4:r>
                          </ns4:e>
                          <ns4:sub>
                            <ns4: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𝒕</ns4:t>
                            </ns4:r>
                          </ns4:sub>
                        </ns4:sSub>
                      </ns4:oMath>
                    </ns4:oMathPara>
                  </ns3:m>
                  <a:endParaRPr lang="zh-CN" altLang="en-US" dirty="0"/>
                </a:p>
              </p:txBody>
            </p:sp>
          </ns2:Choice>
          <ns2:Fallback>
            <p:sp>
              <p:nvSpPr>
                <p:cNvPr id="1432" name="文本框 14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2206" y="4198622"/>
                  <a:ext cx="517683" cy="369332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ns2:Fallback>
        </ns2:AlternateContent>
        <p:sp>
          <p:nvSpPr>
            <p:cNvPr id="1433" name="箭头: 圆角右 1432"/>
            <p:cNvSpPr/>
            <p:nvPr/>
          </p:nvSpPr>
          <p:spPr>
            <a:xfrm rot="5400000" flipH="1">
              <a:off x="5284588" y="1389780"/>
              <a:ext cx="1133264" cy="6410260"/>
            </a:xfrm>
            <a:prstGeom prst="bentArrow">
              <a:avLst>
                <a:gd name="adj1" fmla="val 9945"/>
                <a:gd name="adj2" fmla="val 13815"/>
                <a:gd name="adj3" fmla="val 13459"/>
                <a:gd name="adj4" fmla="val 15399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438" name="组合 1437"/>
            <p:cNvGrpSpPr/>
            <p:nvPr/>
          </p:nvGrpSpPr>
          <p:grpSpPr>
            <a:xfrm rot="2742890">
              <a:off x="8065413" y="2725280"/>
              <a:ext cx="248094" cy="248094"/>
              <a:chOff x="4107691" y="4500604"/>
              <a:chExt cx="248094" cy="248094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439" name="椭圆 1438"/>
              <p:cNvSpPr/>
              <p:nvPr/>
            </p:nvSpPr>
            <p:spPr>
              <a:xfrm>
                <a:off x="4107691" y="4500604"/>
                <a:ext cx="248094" cy="248094"/>
              </a:xfrm>
              <a:prstGeom prst="ellipse">
                <a:avLst/>
              </a:prstGeom>
              <a:grpFill/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40" name="直接连接符 1439"/>
              <p:cNvCxnSpPr>
                <a:stCxn id="1439" idx="2"/>
                <a:endCxn id="1439" idx="6"/>
              </p:cNvCxnSpPr>
              <p:nvPr/>
            </p:nvCxnSpPr>
            <p:spPr>
              <a:xfrm>
                <a:off x="4107691" y="4624651"/>
                <a:ext cx="248094" cy="0"/>
              </a:xfrm>
              <a:prstGeom prst="line">
                <a:avLst/>
              </a:prstGeom>
              <a:grpFill/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1" name="直接连接符 1440"/>
              <p:cNvCxnSpPr>
                <a:stCxn id="1439" idx="0"/>
                <a:endCxn id="1439" idx="4"/>
              </p:cNvCxnSpPr>
              <p:nvPr/>
            </p:nvCxnSpPr>
            <p:spPr>
              <a:xfrm>
                <a:off x="4231738" y="4500604"/>
                <a:ext cx="0" cy="248094"/>
              </a:xfrm>
              <a:prstGeom prst="line">
                <a:avLst/>
              </a:prstGeom>
              <a:grpFill/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43" name="箭头: 圆角右 1442"/>
            <p:cNvSpPr/>
            <p:nvPr/>
          </p:nvSpPr>
          <p:spPr>
            <a:xfrm rot="5400000">
              <a:off x="7339671" y="1615423"/>
              <a:ext cx="995595" cy="1003522"/>
            </a:xfrm>
            <a:prstGeom prst="bentArrow">
              <a:avLst>
                <a:gd name="adj1" fmla="val 12716"/>
                <a:gd name="adj2" fmla="val 14006"/>
                <a:gd name="adj3" fmla="val 18145"/>
                <a:gd name="adj4" fmla="val 44635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45" name="箭头: 圆角右 1444"/>
            <p:cNvSpPr/>
            <p:nvPr/>
          </p:nvSpPr>
          <p:spPr>
            <a:xfrm rot="16200000" flipV="1">
              <a:off x="7690388" y="3192067"/>
              <a:ext cx="785885" cy="511800"/>
            </a:xfrm>
            <a:prstGeom prst="bentArrow">
              <a:avLst>
                <a:gd name="adj1" fmla="val 27121"/>
                <a:gd name="adj2" fmla="val 27888"/>
                <a:gd name="adj3" fmla="val 35933"/>
                <a:gd name="adj4" fmla="val 4633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46" name="箭头: 右 1445"/>
            <p:cNvSpPr/>
            <p:nvPr/>
          </p:nvSpPr>
          <p:spPr>
            <a:xfrm>
              <a:off x="8466315" y="2692568"/>
              <a:ext cx="249412" cy="307777"/>
            </a:xfrm>
            <a:prstGeom prst="rightArrow">
              <a:avLst>
                <a:gd name="adj1" fmla="val 39097"/>
                <a:gd name="adj2" fmla="val 53612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48" name="箭头: 右 1447"/>
            <p:cNvSpPr/>
            <p:nvPr/>
          </p:nvSpPr>
          <p:spPr>
            <a:xfrm rot="5400000">
              <a:off x="8781896" y="3359880"/>
              <a:ext cx="249412" cy="307777"/>
            </a:xfrm>
            <a:prstGeom prst="rightArrow">
              <a:avLst>
                <a:gd name="adj1" fmla="val 39097"/>
                <a:gd name="adj2" fmla="val 53612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449" name="组合 1448"/>
            <p:cNvGrpSpPr/>
            <p:nvPr/>
          </p:nvGrpSpPr>
          <p:grpSpPr>
            <a:xfrm>
              <a:off x="8782555" y="3707406"/>
              <a:ext cx="248094" cy="248094"/>
              <a:chOff x="4107691" y="4500604"/>
              <a:chExt cx="248094" cy="248094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450" name="椭圆 1449"/>
              <p:cNvSpPr/>
              <p:nvPr/>
            </p:nvSpPr>
            <p:spPr>
              <a:xfrm>
                <a:off x="4107691" y="4500604"/>
                <a:ext cx="248094" cy="248094"/>
              </a:xfrm>
              <a:prstGeom prst="ellipse">
                <a:avLst/>
              </a:prstGeom>
              <a:grp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51" name="直接连接符 1450"/>
              <p:cNvCxnSpPr>
                <a:stCxn id="1450" idx="2"/>
                <a:endCxn id="1450" idx="6"/>
              </p:cNvCxnSpPr>
              <p:nvPr/>
            </p:nvCxnSpPr>
            <p:spPr>
              <a:xfrm>
                <a:off x="4107691" y="4624651"/>
                <a:ext cx="248094" cy="0"/>
              </a:xfrm>
              <a:prstGeom prst="line">
                <a:avLst/>
              </a:prstGeom>
              <a:grp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2" name="直接连接符 1451"/>
              <p:cNvCxnSpPr>
                <a:stCxn id="1450" idx="0"/>
                <a:endCxn id="1450" idx="4"/>
              </p:cNvCxnSpPr>
              <p:nvPr/>
            </p:nvCxnSpPr>
            <p:spPr>
              <a:xfrm>
                <a:off x="4231738" y="4500604"/>
                <a:ext cx="0" cy="248094"/>
              </a:xfrm>
              <a:prstGeom prst="line">
                <a:avLst/>
              </a:prstGeom>
              <a:grpFill/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54" name="箭头: 右 1453"/>
            <p:cNvSpPr/>
            <p:nvPr/>
          </p:nvSpPr>
          <p:spPr>
            <a:xfrm>
              <a:off x="9103400" y="3714593"/>
              <a:ext cx="319473" cy="307777"/>
            </a:xfrm>
            <a:prstGeom prst="rightArrow">
              <a:avLst>
                <a:gd name="adj1" fmla="val 39097"/>
                <a:gd name="adj2" fmla="val 53612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457" name="组合 1456"/>
            <p:cNvGrpSpPr/>
            <p:nvPr/>
          </p:nvGrpSpPr>
          <p:grpSpPr>
            <a:xfrm>
              <a:off x="6288814" y="5206802"/>
              <a:ext cx="1415444" cy="372814"/>
              <a:chOff x="8298757" y="5251290"/>
              <a:chExt cx="1415444" cy="372814"/>
            </a:xfrm>
          </p:grpSpPr>
          <p:sp>
            <p:nvSpPr>
              <p:cNvPr id="1456" name="矩形: 圆角 1455"/>
              <p:cNvSpPr/>
              <p:nvPr/>
            </p:nvSpPr>
            <p:spPr>
              <a:xfrm>
                <a:off x="8298757" y="5251290"/>
                <a:ext cx="1359789" cy="372814"/>
              </a:xfrm>
              <a:prstGeom prst="roundRect">
                <a:avLst>
                  <a:gd name="adj" fmla="val 28238"/>
                </a:avLst>
              </a:prstGeom>
              <a:solidFill>
                <a:srgbClr val="DDBBD3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36" name="文本框 1435"/>
              <p:cNvSpPr txBox="1"/>
              <p:nvPr/>
            </p:nvSpPr>
            <p:spPr>
              <a:xfrm>
                <a:off x="8298757" y="5283133"/>
                <a:ext cx="141544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400" b="1" i="1" dirty="0">
                    <a:solidFill>
                      <a:srgbClr val="292929"/>
                    </a:solidFill>
                    <a:latin typeface="Noto Serif" panose="02020600060500020200" pitchFamily="18" charset="0"/>
                  </a:rPr>
                  <a:t>Environment</a:t>
                </a:r>
                <a:endParaRPr lang="zh-CN" altLang="en-US" sz="1400" b="1" dirty="0"/>
              </a:p>
            </p:txBody>
          </p:sp>
        </p:grpSp>
        <p:sp>
          <p:nvSpPr>
            <p:cNvPr id="1458" name="箭头: 圆角右 1457"/>
            <p:cNvSpPr/>
            <p:nvPr/>
          </p:nvSpPr>
          <p:spPr>
            <a:xfrm rot="10800000" flipH="1">
              <a:off x="8949991" y="1680088"/>
              <a:ext cx="416532" cy="445065"/>
            </a:xfrm>
            <a:prstGeom prst="bentArrow">
              <a:avLst>
                <a:gd name="adj1" fmla="val 31042"/>
                <a:gd name="adj2" fmla="val 28226"/>
                <a:gd name="adj3" fmla="val 39098"/>
                <a:gd name="adj4" fmla="val 52464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59" name="矩形: 圆角 1458"/>
            <p:cNvSpPr/>
            <p:nvPr/>
          </p:nvSpPr>
          <p:spPr>
            <a:xfrm>
              <a:off x="850878" y="2768831"/>
              <a:ext cx="1752302" cy="2788317"/>
            </a:xfrm>
            <a:prstGeom prst="roundRect">
              <a:avLst>
                <a:gd name="adj" fmla="val 10907"/>
              </a:avLst>
            </a:prstGeom>
            <a:solidFill>
              <a:schemeClr val="bg2">
                <a:lumMod val="9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434" name="组合 1433"/>
            <p:cNvGrpSpPr/>
            <p:nvPr/>
          </p:nvGrpSpPr>
          <p:grpSpPr>
            <a:xfrm>
              <a:off x="953612" y="2882884"/>
              <a:ext cx="1546833" cy="989272"/>
              <a:chOff x="713498" y="2935621"/>
              <a:chExt cx="1546833" cy="989272"/>
            </a:xfrm>
          </p:grpSpPr>
          <p:pic>
            <p:nvPicPr>
              <p:cNvPr id="1100" name="图片 1099" descr="电脑合成图&#10;&#10;AI 生成的内容可能不正确。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1701" y="2935621"/>
                <a:ext cx="985866" cy="64168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101" name="图片 1100" descr="电脑合成图&#10;&#10;AI 生成的内容可能不正确。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63092" y="3057011"/>
                <a:ext cx="985866" cy="64168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103" name="文本框 1102"/>
              <p:cNvSpPr txBox="1"/>
              <p:nvPr/>
            </p:nvSpPr>
            <p:spPr>
              <a:xfrm>
                <a:off x="713498" y="3647894"/>
                <a:ext cx="154683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Depth Camera</a:t>
                </a:r>
                <a:endParaRPr lang="zh-CN" altLang="en-US" sz="1200" dirty="0">
                  <a:solidFill>
                    <a:schemeClr val="tx1"/>
                  </a:solidFill>
                  <a:latin typeface="Segoe UI Black" panose="020B0A02040204020203" pitchFamily="34" charset="0"/>
                </a:endParaRPr>
              </a:p>
            </p:txBody>
          </p:sp>
        </p:grpSp>
        <p:grpSp>
          <p:nvGrpSpPr>
            <p:cNvPr id="1435" name="组合 1434"/>
            <p:cNvGrpSpPr/>
            <p:nvPr/>
          </p:nvGrpSpPr>
          <p:grpSpPr>
            <a:xfrm>
              <a:off x="883340" y="3895337"/>
              <a:ext cx="1703007" cy="1561000"/>
              <a:chOff x="500815" y="3985085"/>
              <a:chExt cx="1703007" cy="1561000"/>
            </a:xfrm>
          </p:grpSpPr>
          <p:grpSp>
            <p:nvGrpSpPr>
              <p:cNvPr id="1124" name="组合 1123"/>
              <p:cNvGrpSpPr/>
              <p:nvPr/>
            </p:nvGrpSpPr>
            <p:grpSpPr>
              <a:xfrm>
                <a:off x="500815" y="3985085"/>
                <a:ext cx="1245432" cy="1098636"/>
                <a:chOff x="1989828" y="1644973"/>
                <a:chExt cx="2024698" cy="1361024"/>
              </a:xfrm>
            </p:grpSpPr>
            <p:sp>
              <p:nvSpPr>
                <p:cNvPr id="1125" name="矩形: 圆角 1124"/>
                <p:cNvSpPr/>
                <p:nvPr/>
              </p:nvSpPr>
              <p:spPr>
                <a:xfrm>
                  <a:off x="2070366" y="1644973"/>
                  <a:ext cx="1863623" cy="1361024"/>
                </a:xfrm>
                <a:prstGeom prst="roundRect">
                  <a:avLst>
                    <a:gd name="adj" fmla="val 10607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1126" name="文本框 1125"/>
                <p:cNvSpPr txBox="1"/>
                <p:nvPr/>
              </p:nvSpPr>
              <p:spPr>
                <a:xfrm>
                  <a:off x="1989828" y="1652361"/>
                  <a:ext cx="2024698" cy="3431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200" dirty="0">
                      <a:solidFill>
                        <a:schemeClr val="bg2">
                          <a:lumMod val="75000"/>
                        </a:schemeClr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</a:rPr>
                    <a:t>Observation</a:t>
                  </a:r>
                  <a:endParaRPr lang="zh-CN" altLang="en-US" sz="1200" dirty="0">
                    <a:solidFill>
                      <a:schemeClr val="bg2">
                        <a:lumMod val="75000"/>
                      </a:schemeClr>
                    </a:solidFill>
                    <a:latin typeface="Segoe UI Black" panose="020B0A02040204020203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1127" name="矩形: 圆角 1126"/>
                <p:cNvSpPr/>
                <p:nvPr/>
              </p:nvSpPr>
              <p:spPr>
                <a:xfrm>
                  <a:off x="2070366" y="1961942"/>
                  <a:ext cx="1863623" cy="845536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1128" name="文本框 1127"/>
                <p:cNvSpPr txBox="1"/>
                <p:nvPr/>
              </p:nvSpPr>
              <p:spPr>
                <a:xfrm>
                  <a:off x="2055378" y="1976480"/>
                  <a:ext cx="1928044" cy="8769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71450" indent="-171450" algn="l">
                    <a:buFont typeface="Arial" panose="02080604020202020204" pitchFamily="34" charset="0"/>
                    <a:buChar char="•"/>
                  </a:pPr>
                  <a:r>
                    <a:rPr lang="en-US" altLang="zh-CN" sz="1000" b="1" i="1" dirty="0">
                      <a:solidFill>
                        <a:schemeClr val="bg2">
                          <a:lumMod val="90000"/>
                        </a:schemeClr>
                      </a:solidFill>
                      <a:effectLst/>
                      <a:latin typeface="Noto Serif" panose="02020600060500020200" pitchFamily="18" charset="0"/>
                    </a:rPr>
                    <a:t>IMU</a:t>
                  </a:r>
                  <a:endParaRPr lang="en-US" altLang="zh-CN" sz="1000" b="1" i="1" dirty="0">
                    <a:solidFill>
                      <a:schemeClr val="bg2">
                        <a:lumMod val="90000"/>
                      </a:schemeClr>
                    </a:solidFill>
                    <a:effectLst/>
                    <a:latin typeface="Noto Serif" panose="02020600060500020200" pitchFamily="18" charset="0"/>
                  </a:endParaRPr>
                </a:p>
                <a:p>
                  <a:pPr marL="171450" indent="-171450" algn="l">
                    <a:buFont typeface="Arial" panose="02080604020202020204" pitchFamily="34" charset="0"/>
                    <a:buChar char="•"/>
                  </a:pPr>
                  <a:r>
                    <a:rPr lang="en-US" altLang="zh-CN" sz="1000" b="1" i="1" dirty="0">
                      <a:solidFill>
                        <a:schemeClr val="bg2">
                          <a:lumMod val="90000"/>
                        </a:schemeClr>
                      </a:solidFill>
                      <a:latin typeface="Noto Serif" panose="02020600060500020200" pitchFamily="18" charset="0"/>
                    </a:rPr>
                    <a:t>Joint states</a:t>
                  </a:r>
                  <a:endParaRPr lang="en-US" altLang="zh-CN" sz="1000" b="1" i="1" dirty="0">
                    <a:solidFill>
                      <a:schemeClr val="bg2">
                        <a:lumMod val="90000"/>
                      </a:schemeClr>
                    </a:solidFill>
                    <a:latin typeface="Noto Serif" panose="02020600060500020200" pitchFamily="18" charset="0"/>
                  </a:endParaRPr>
                </a:p>
                <a:p>
                  <a:pPr marL="171450" indent="-171450">
                    <a:buFont typeface="Arial" panose="02080604020202020204" pitchFamily="34" charset="0"/>
                    <a:buChar char="•"/>
                  </a:pPr>
                  <a:r>
                    <a:rPr lang="en-US" altLang="zh-CN" sz="1000" b="1" i="1" dirty="0">
                      <a:solidFill>
                        <a:schemeClr val="bg2">
                          <a:lumMod val="90000"/>
                        </a:schemeClr>
                      </a:solidFill>
                      <a:latin typeface="Noto Serif" panose="02020600060500020200" pitchFamily="18" charset="0"/>
                    </a:rPr>
                    <a:t>Commands</a:t>
                  </a:r>
                  <a:endParaRPr lang="en-US" altLang="zh-CN" sz="1000" b="1" i="1" dirty="0">
                    <a:solidFill>
                      <a:schemeClr val="bg2">
                        <a:lumMod val="90000"/>
                      </a:schemeClr>
                    </a:solidFill>
                    <a:latin typeface="Noto Serif" panose="02020600060500020200" pitchFamily="18" charset="0"/>
                  </a:endParaRPr>
                </a:p>
                <a:p>
                  <a:pPr marL="171450" indent="-171450">
                    <a:buFont typeface="Arial" panose="02080604020202020204" pitchFamily="34" charset="0"/>
                    <a:buChar char="•"/>
                  </a:pPr>
                  <a:r>
                    <a:rPr lang="en-US" altLang="zh-CN" sz="1000" b="1" i="1" dirty="0">
                      <a:solidFill>
                        <a:schemeClr val="bg2">
                          <a:lumMod val="90000"/>
                        </a:schemeClr>
                      </a:solidFill>
                      <a:latin typeface="Noto Serif" panose="02020600060500020200" pitchFamily="18" charset="0"/>
                    </a:rPr>
                    <a:t>...</a:t>
                  </a:r>
                  <a:endParaRPr lang="en-US" altLang="zh-CN" sz="1000" b="1" i="1" dirty="0">
                    <a:solidFill>
                      <a:schemeClr val="bg2">
                        <a:lumMod val="90000"/>
                      </a:schemeClr>
                    </a:solidFill>
                    <a:latin typeface="Noto Serif" panose="02020600060500020200" pitchFamily="18" charset="0"/>
                  </a:endParaRPr>
                </a:p>
              </p:txBody>
            </p:sp>
          </p:grpSp>
          <p:sp>
            <p:nvSpPr>
              <p:cNvPr id="1130" name="文本框 1129"/>
              <p:cNvSpPr txBox="1"/>
              <p:nvPr/>
            </p:nvSpPr>
            <p:spPr>
              <a:xfrm rot="2527962">
                <a:off x="735943" y="5176753"/>
                <a:ext cx="4718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b="1" i="1" dirty="0">
                    <a:solidFill>
                      <a:srgbClr val="292929"/>
                    </a:solidFill>
                    <a:latin typeface="Noto Serif" panose="02020600060500020200" pitchFamily="18" charset="0"/>
                  </a:rPr>
                  <a:t>...</a:t>
                </a:r>
                <a:endParaRPr lang="en-US" altLang="zh-CN" sz="1800" b="1" i="1" dirty="0">
                  <a:solidFill>
                    <a:srgbClr val="292929"/>
                  </a:solidFill>
                  <a:latin typeface="Noto Serif" panose="02020600060500020200" pitchFamily="18" charset="0"/>
                </a:endParaRPr>
              </a:p>
            </p:txBody>
          </p:sp>
          <p:grpSp>
            <p:nvGrpSpPr>
              <p:cNvPr id="1406" name="组合 1405"/>
              <p:cNvGrpSpPr/>
              <p:nvPr/>
            </p:nvGrpSpPr>
            <p:grpSpPr>
              <a:xfrm>
                <a:off x="653215" y="4137485"/>
                <a:ext cx="1245432" cy="1098636"/>
                <a:chOff x="1989828" y="1644973"/>
                <a:chExt cx="2024698" cy="1361024"/>
              </a:xfrm>
            </p:grpSpPr>
            <p:sp>
              <p:nvSpPr>
                <p:cNvPr id="1407" name="矩形: 圆角 1406"/>
                <p:cNvSpPr/>
                <p:nvPr/>
              </p:nvSpPr>
              <p:spPr>
                <a:xfrm>
                  <a:off x="2070366" y="1644973"/>
                  <a:ext cx="1863623" cy="1361024"/>
                </a:xfrm>
                <a:prstGeom prst="roundRect">
                  <a:avLst>
                    <a:gd name="adj" fmla="val 10607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1408" name="文本框 1407"/>
                <p:cNvSpPr txBox="1"/>
                <p:nvPr/>
              </p:nvSpPr>
              <p:spPr>
                <a:xfrm>
                  <a:off x="1989828" y="1652361"/>
                  <a:ext cx="2024698" cy="3431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200" dirty="0">
                      <a:solidFill>
                        <a:schemeClr val="bg2">
                          <a:lumMod val="50000"/>
                        </a:schemeClr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</a:rPr>
                    <a:t>Observation</a:t>
                  </a:r>
                  <a:endParaRPr lang="zh-CN" altLang="en-US" sz="1200" dirty="0">
                    <a:solidFill>
                      <a:schemeClr val="bg2">
                        <a:lumMod val="50000"/>
                      </a:schemeClr>
                    </a:solidFill>
                    <a:latin typeface="Segoe UI Black" panose="020B0A02040204020203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1409" name="矩形: 圆角 1408"/>
                <p:cNvSpPr/>
                <p:nvPr/>
              </p:nvSpPr>
              <p:spPr>
                <a:xfrm>
                  <a:off x="2070366" y="1961942"/>
                  <a:ext cx="1863623" cy="845536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1410" name="文本框 1409"/>
                <p:cNvSpPr txBox="1"/>
                <p:nvPr/>
              </p:nvSpPr>
              <p:spPr>
                <a:xfrm>
                  <a:off x="2055378" y="1976480"/>
                  <a:ext cx="1928044" cy="8769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71450" indent="-171450" algn="l">
                    <a:buFont typeface="Arial" panose="02080604020202020204" pitchFamily="34" charset="0"/>
                    <a:buChar char="•"/>
                  </a:pPr>
                  <a:r>
                    <a:rPr lang="en-US" altLang="zh-CN" sz="1000" b="1" i="1" dirty="0">
                      <a:solidFill>
                        <a:schemeClr val="bg2">
                          <a:lumMod val="50000"/>
                        </a:schemeClr>
                      </a:solidFill>
                      <a:effectLst/>
                      <a:latin typeface="Noto Serif" panose="02020600060500020200" pitchFamily="18" charset="0"/>
                    </a:rPr>
                    <a:t>IMU</a:t>
                  </a:r>
                  <a:endParaRPr lang="en-US" altLang="zh-CN" sz="1000" b="1" i="1" dirty="0">
                    <a:solidFill>
                      <a:schemeClr val="bg2">
                        <a:lumMod val="50000"/>
                      </a:schemeClr>
                    </a:solidFill>
                    <a:effectLst/>
                    <a:latin typeface="Noto Serif" panose="02020600060500020200" pitchFamily="18" charset="0"/>
                  </a:endParaRPr>
                </a:p>
                <a:p>
                  <a:pPr marL="171450" indent="-171450" algn="l">
                    <a:buFont typeface="Arial" panose="02080604020202020204" pitchFamily="34" charset="0"/>
                    <a:buChar char="•"/>
                  </a:pPr>
                  <a:r>
                    <a:rPr lang="en-US" altLang="zh-CN" sz="1000" b="1" i="1" dirty="0">
                      <a:solidFill>
                        <a:schemeClr val="bg2">
                          <a:lumMod val="50000"/>
                        </a:schemeClr>
                      </a:solidFill>
                      <a:latin typeface="Noto Serif" panose="02020600060500020200" pitchFamily="18" charset="0"/>
                    </a:rPr>
                    <a:t>Joint states</a:t>
                  </a:r>
                  <a:endParaRPr lang="en-US" altLang="zh-CN" sz="1000" b="1" i="1" dirty="0">
                    <a:solidFill>
                      <a:schemeClr val="bg2">
                        <a:lumMod val="50000"/>
                      </a:schemeClr>
                    </a:solidFill>
                    <a:latin typeface="Noto Serif" panose="02020600060500020200" pitchFamily="18" charset="0"/>
                  </a:endParaRPr>
                </a:p>
                <a:p>
                  <a:pPr marL="171450" indent="-171450">
                    <a:buFont typeface="Arial" panose="02080604020202020204" pitchFamily="34" charset="0"/>
                    <a:buChar char="•"/>
                  </a:pPr>
                  <a:r>
                    <a:rPr lang="en-US" altLang="zh-CN" sz="1000" b="1" i="1" dirty="0">
                      <a:solidFill>
                        <a:schemeClr val="bg2">
                          <a:lumMod val="50000"/>
                        </a:schemeClr>
                      </a:solidFill>
                      <a:latin typeface="Noto Serif" panose="02020600060500020200" pitchFamily="18" charset="0"/>
                    </a:rPr>
                    <a:t>Commands</a:t>
                  </a:r>
                  <a:endParaRPr lang="en-US" altLang="zh-CN" sz="1000" b="1" i="1" dirty="0">
                    <a:solidFill>
                      <a:schemeClr val="bg2">
                        <a:lumMod val="50000"/>
                      </a:schemeClr>
                    </a:solidFill>
                    <a:latin typeface="Noto Serif" panose="02020600060500020200" pitchFamily="18" charset="0"/>
                  </a:endParaRPr>
                </a:p>
                <a:p>
                  <a:pPr marL="171450" indent="-171450">
                    <a:buFont typeface="Arial" panose="02080604020202020204" pitchFamily="34" charset="0"/>
                    <a:buChar char="•"/>
                  </a:pPr>
                  <a:r>
                    <a:rPr lang="en-US" altLang="zh-CN" sz="1000" b="1" i="1" dirty="0">
                      <a:solidFill>
                        <a:schemeClr val="bg2">
                          <a:lumMod val="50000"/>
                        </a:schemeClr>
                      </a:solidFill>
                      <a:latin typeface="Noto Serif" panose="02020600060500020200" pitchFamily="18" charset="0"/>
                    </a:rPr>
                    <a:t>...</a:t>
                  </a:r>
                  <a:endParaRPr lang="en-US" altLang="zh-CN" sz="1000" b="1" i="1" dirty="0">
                    <a:solidFill>
                      <a:schemeClr val="bg2">
                        <a:lumMod val="50000"/>
                      </a:schemeClr>
                    </a:solidFill>
                    <a:latin typeface="Noto Serif" panose="02020600060500020200" pitchFamily="18" charset="0"/>
                  </a:endParaRPr>
                </a:p>
              </p:txBody>
            </p:sp>
          </p:grpSp>
          <p:grpSp>
            <p:nvGrpSpPr>
              <p:cNvPr id="1411" name="组合 1410"/>
              <p:cNvGrpSpPr/>
              <p:nvPr/>
            </p:nvGrpSpPr>
            <p:grpSpPr>
              <a:xfrm>
                <a:off x="958390" y="4398900"/>
                <a:ext cx="1245432" cy="1098636"/>
                <a:chOff x="1989828" y="1644973"/>
                <a:chExt cx="2024698" cy="1361024"/>
              </a:xfrm>
            </p:grpSpPr>
            <p:sp>
              <p:nvSpPr>
                <p:cNvPr id="1412" name="矩形: 圆角 1411"/>
                <p:cNvSpPr/>
                <p:nvPr/>
              </p:nvSpPr>
              <p:spPr>
                <a:xfrm>
                  <a:off x="2070366" y="1644973"/>
                  <a:ext cx="1863623" cy="1361024"/>
                </a:xfrm>
                <a:prstGeom prst="roundRect">
                  <a:avLst>
                    <a:gd name="adj" fmla="val 10607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1413" name="文本框 1412"/>
                <p:cNvSpPr txBox="1"/>
                <p:nvPr/>
              </p:nvSpPr>
              <p:spPr>
                <a:xfrm>
                  <a:off x="1989828" y="1652362"/>
                  <a:ext cx="202469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200" dirty="0">
                      <a:solidFill>
                        <a:schemeClr val="tx1"/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</a:rPr>
                    <a:t>Observation</a:t>
                  </a:r>
                  <a:endParaRPr lang="zh-CN" altLang="en-US" sz="120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1414" name="矩形: 圆角 1413"/>
                <p:cNvSpPr/>
                <p:nvPr/>
              </p:nvSpPr>
              <p:spPr>
                <a:xfrm>
                  <a:off x="2070366" y="1961942"/>
                  <a:ext cx="1863623" cy="845536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1415" name="文本框 1414"/>
                <p:cNvSpPr txBox="1"/>
                <p:nvPr/>
              </p:nvSpPr>
              <p:spPr>
                <a:xfrm>
                  <a:off x="2055378" y="1976480"/>
                  <a:ext cx="1928044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71450" indent="-171450" algn="l">
                    <a:buFont typeface="Arial" panose="02080604020202020204" pitchFamily="34" charset="0"/>
                    <a:buChar char="•"/>
                  </a:pPr>
                  <a:r>
                    <a:rPr lang="en-US" altLang="zh-CN" sz="1000" b="1" i="1" dirty="0">
                      <a:solidFill>
                        <a:srgbClr val="292929"/>
                      </a:solidFill>
                      <a:effectLst/>
                      <a:latin typeface="Noto Serif" panose="02020600060500020200" pitchFamily="18" charset="0"/>
                    </a:rPr>
                    <a:t>IMU</a:t>
                  </a:r>
                  <a:endParaRPr lang="en-US" altLang="zh-CN" sz="1000" b="1" i="1" dirty="0">
                    <a:solidFill>
                      <a:srgbClr val="292929"/>
                    </a:solidFill>
                    <a:effectLst/>
                    <a:latin typeface="Noto Serif" panose="02020600060500020200" pitchFamily="18" charset="0"/>
                  </a:endParaRPr>
                </a:p>
                <a:p>
                  <a:pPr marL="171450" indent="-171450" algn="l">
                    <a:buFont typeface="Arial" panose="02080604020202020204" pitchFamily="34" charset="0"/>
                    <a:buChar char="•"/>
                  </a:pPr>
                  <a:r>
                    <a:rPr lang="en-US" altLang="zh-CN" sz="1000" b="1" i="1" dirty="0">
                      <a:solidFill>
                        <a:srgbClr val="292929"/>
                      </a:solidFill>
                      <a:latin typeface="Noto Serif" panose="02020600060500020200" pitchFamily="18" charset="0"/>
                    </a:rPr>
                    <a:t>Joint states</a:t>
                  </a:r>
                  <a:endParaRPr lang="en-US" altLang="zh-CN" sz="1000" b="1" i="1" dirty="0">
                    <a:solidFill>
                      <a:srgbClr val="292929"/>
                    </a:solidFill>
                    <a:latin typeface="Noto Serif" panose="02020600060500020200" pitchFamily="18" charset="0"/>
                  </a:endParaRPr>
                </a:p>
                <a:p>
                  <a:pPr marL="171450" indent="-171450">
                    <a:buFont typeface="Arial" panose="02080604020202020204" pitchFamily="34" charset="0"/>
                    <a:buChar char="•"/>
                  </a:pPr>
                  <a:r>
                    <a:rPr lang="en-US" altLang="zh-CN" sz="1000" b="1" i="1" dirty="0">
                      <a:solidFill>
                        <a:srgbClr val="292929"/>
                      </a:solidFill>
                      <a:latin typeface="Noto Serif" panose="02020600060500020200" pitchFamily="18" charset="0"/>
                    </a:rPr>
                    <a:t>Commands</a:t>
                  </a:r>
                  <a:endParaRPr lang="en-US" altLang="zh-CN" sz="1000" b="1" i="1" dirty="0">
                    <a:solidFill>
                      <a:srgbClr val="292929"/>
                    </a:solidFill>
                    <a:latin typeface="Noto Serif" panose="02020600060500020200" pitchFamily="18" charset="0"/>
                  </a:endParaRPr>
                </a:p>
                <a:p>
                  <a:pPr marL="171450" indent="-171450">
                    <a:buFont typeface="Arial" panose="02080604020202020204" pitchFamily="34" charset="0"/>
                    <a:buChar char="•"/>
                  </a:pPr>
                  <a:r>
                    <a:rPr lang="en-US" altLang="zh-CN" sz="1000" b="1" i="1" dirty="0">
                      <a:solidFill>
                        <a:srgbClr val="292929"/>
                      </a:solidFill>
                      <a:latin typeface="Noto Serif" panose="02020600060500020200" pitchFamily="18" charset="0"/>
                    </a:rPr>
                    <a:t>...</a:t>
                  </a:r>
                  <a:endParaRPr lang="en-US" altLang="zh-CN" sz="1000" b="1" i="1" dirty="0">
                    <a:solidFill>
                      <a:srgbClr val="292929"/>
                    </a:solidFill>
                    <a:latin typeface="Noto Serif" panose="02020600060500020200" pitchFamily="18" charset="0"/>
                  </a:endParaRPr>
                </a:p>
              </p:txBody>
            </p:sp>
          </p:grpSp>
        </p:grpSp>
        <ns2:AlternateContent>
          <ns2:Choice Requires="a14">
            <p:sp>
              <p:nvSpPr>
                <p:cNvPr id="1460" name="文本框 1459"/>
                <p:cNvSpPr txBox="1"/>
                <p:nvPr/>
              </p:nvSpPr>
              <p:spPr>
                <a:xfrm>
                  <a:off x="1825455" y="2420701"/>
                  <a:ext cx="497485" cy="3095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ns3:m>
                    <ns4:oMathPara>
                      <ns4:oMathParaPr>
                        <ns4:jc ns4:val="centerGroup"/>
                      </ns4:oMathParaPr>
                      <ns4:oMath>
                        <ns4:sSubSup>
                          <ns4:sSubSupPr>
                            <ns4:ctrlP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</ns4:ctrlPr>
                          </ns4:sSubSupPr>
                          <ns4:e>
                            <ns4: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𝑪</ns4:t>
                            </ns4:r>
                          </ns4:e>
                          <ns4:sub>
                            <ns4:r>
                              <a:rPr lang="en-US" altLang="zh-CN" sz="1800" b="1" i="1" dirty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𝒕</ns4:t>
                            </ns4:r>
                          </ns4:sub>
                          <ns4:sup>
                            <ns4:r>
                              <a:rPr lang="en-US" altLang="zh-CN" sz="1800" b="1" i="1" dirty="0" smtClean="0">
                                <a:solidFill>
                                  <a:srgbClr val="292929"/>
                                </a:solidFill>
                                <a:latin typeface="Cambria Math" panose="02040503050406030204" pitchFamily="18" charset="0"/>
                              </a:rPr>
                              <ns4:t>𝟐</ns4:t>
                            </ns4:r>
                          </ns4:sup>
                        </ns4:sSubSup>
                      </ns4:oMath>
                    </ns4:oMathPara>
                  </ns3:m>
                  <a:endParaRPr lang="zh-CN" altLang="en-US" dirty="0"/>
                </a:p>
              </p:txBody>
            </p:sp>
          </ns2:Choice>
          <ns2:Fallback>
            <p:sp>
              <p:nvSpPr>
                <p:cNvPr id="1460" name="文本框 14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5455" y="2420701"/>
                  <a:ext cx="497485" cy="309504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ns2:Fallback>
        </ns2:AlternateContent>
        <p:sp>
          <p:nvSpPr>
            <p:cNvPr id="1461" name="箭头: 右 1460"/>
            <p:cNvSpPr/>
            <p:nvPr/>
          </p:nvSpPr>
          <p:spPr>
            <a:xfrm rot="10800000">
              <a:off x="2646085" y="5239713"/>
              <a:ext cx="3581586" cy="307777"/>
            </a:xfrm>
            <a:prstGeom prst="rightArrow">
              <a:avLst>
                <a:gd name="adj1" fmla="val 39097"/>
                <a:gd name="adj2" fmla="val 53612"/>
              </a:avLst>
            </a:prstGeom>
            <a:solidFill>
              <a:srgbClr val="FBDBF7"/>
            </a:solidFill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65" name="箭头: 圆角右 1464"/>
            <p:cNvSpPr/>
            <p:nvPr/>
          </p:nvSpPr>
          <p:spPr>
            <a:xfrm rot="10800000">
              <a:off x="10990329" y="5171327"/>
              <a:ext cx="277665" cy="307778"/>
            </a:xfrm>
            <a:prstGeom prst="bentArrow">
              <a:avLst>
                <a:gd name="adj1" fmla="val 41354"/>
                <a:gd name="adj2" fmla="val 36403"/>
                <a:gd name="adj3" fmla="val 35903"/>
                <a:gd name="adj4" fmla="val 84274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66" name="矩形: 圆角 1465"/>
            <p:cNvSpPr/>
            <p:nvPr/>
          </p:nvSpPr>
          <p:spPr>
            <a:xfrm>
              <a:off x="9465782" y="1117509"/>
              <a:ext cx="1467969" cy="3697936"/>
            </a:xfrm>
            <a:prstGeom prst="roundRect">
              <a:avLst>
                <a:gd name="adj" fmla="val 14737"/>
              </a:avLst>
            </a:prstGeom>
            <a:solidFill>
              <a:schemeClr val="bg1">
                <a:lumMod val="75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9427435" y="3200170"/>
              <a:ext cx="1583178" cy="1538586"/>
              <a:chOff x="7752719" y="1661160"/>
              <a:chExt cx="1583178" cy="1538586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7752719" y="1661160"/>
                <a:ext cx="15831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 i="1" dirty="0">
                    <a:solidFill>
                      <a:srgbClr val="292929"/>
                    </a:solidFill>
                    <a:latin typeface="Noto Serif" panose="02020600060500020200" pitchFamily="18" charset="0"/>
                  </a:rPr>
                  <a:t>Actor MoE</a:t>
                </a:r>
                <a:endParaRPr lang="zh-CN" altLang="en-US" sz="1200" b="1" i="1" dirty="0">
                  <a:solidFill>
                    <a:srgbClr val="292929"/>
                  </a:solidFill>
                  <a:latin typeface="Noto Serif" panose="02020600060500020200" pitchFamily="18" charset="0"/>
                </a:endParaRPr>
              </a:p>
            </p:txBody>
          </p:sp>
          <p:grpSp>
            <p:nvGrpSpPr>
              <p:cNvPr id="4" name="组合 3"/>
              <p:cNvGrpSpPr/>
              <p:nvPr/>
            </p:nvGrpSpPr>
            <p:grpSpPr>
              <a:xfrm>
                <a:off x="7914225" y="1958339"/>
                <a:ext cx="1238952" cy="1241407"/>
                <a:chOff x="2787869" y="3318766"/>
                <a:chExt cx="1689423" cy="1692771"/>
              </a:xfrm>
            </p:grpSpPr>
            <p:sp>
              <p:nvSpPr>
                <p:cNvPr id="5" name="矩形: 圆角 4"/>
                <p:cNvSpPr/>
                <p:nvPr/>
              </p:nvSpPr>
              <p:spPr>
                <a:xfrm>
                  <a:off x="2787869" y="3318766"/>
                  <a:ext cx="1689423" cy="1692771"/>
                </a:xfrm>
                <a:prstGeom prst="round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" name="椭圆 5"/>
                <p:cNvSpPr/>
                <p:nvPr/>
              </p:nvSpPr>
              <p:spPr>
                <a:xfrm>
                  <a:off x="2975413" y="3486804"/>
                  <a:ext cx="225015" cy="22501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椭圆 6"/>
                <p:cNvSpPr/>
                <p:nvPr/>
              </p:nvSpPr>
              <p:spPr>
                <a:xfrm>
                  <a:off x="2977606" y="4598093"/>
                  <a:ext cx="225015" cy="22501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椭圆 7"/>
                <p:cNvSpPr/>
                <p:nvPr/>
              </p:nvSpPr>
              <p:spPr>
                <a:xfrm>
                  <a:off x="4091467" y="3731485"/>
                  <a:ext cx="225015" cy="22501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椭圆 8"/>
                <p:cNvSpPr/>
                <p:nvPr/>
              </p:nvSpPr>
              <p:spPr>
                <a:xfrm>
                  <a:off x="3534537" y="3486804"/>
                  <a:ext cx="225015" cy="22501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椭圆 9"/>
                <p:cNvSpPr/>
                <p:nvPr/>
              </p:nvSpPr>
              <p:spPr>
                <a:xfrm>
                  <a:off x="3534537" y="4038814"/>
                  <a:ext cx="225015" cy="22501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>
                  <a:off x="3536730" y="4598093"/>
                  <a:ext cx="225015" cy="22501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" name="直接连接符 11"/>
                <p:cNvCxnSpPr>
                  <a:stCxn id="6" idx="6"/>
                  <a:endCxn id="11" idx="2"/>
                </p:cNvCxnSpPr>
                <p:nvPr/>
              </p:nvCxnSpPr>
              <p:spPr>
                <a:xfrm>
                  <a:off x="3200428" y="3599312"/>
                  <a:ext cx="336302" cy="111128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连接符 12"/>
                <p:cNvCxnSpPr>
                  <a:stCxn id="6" idx="6"/>
                  <a:endCxn id="10" idx="2"/>
                </p:cNvCxnSpPr>
                <p:nvPr/>
              </p:nvCxnSpPr>
              <p:spPr>
                <a:xfrm>
                  <a:off x="3200428" y="3599312"/>
                  <a:ext cx="334109" cy="55201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>
                  <a:stCxn id="6" idx="6"/>
                  <a:endCxn id="9" idx="2"/>
                </p:cNvCxnSpPr>
                <p:nvPr/>
              </p:nvCxnSpPr>
              <p:spPr>
                <a:xfrm>
                  <a:off x="3200428" y="3599312"/>
                  <a:ext cx="33410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" name="椭圆 14"/>
                <p:cNvSpPr/>
                <p:nvPr/>
              </p:nvSpPr>
              <p:spPr>
                <a:xfrm>
                  <a:off x="2975413" y="4038814"/>
                  <a:ext cx="225015" cy="22501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6" name="直接连接符 15"/>
                <p:cNvCxnSpPr>
                  <a:stCxn id="15" idx="6"/>
                  <a:endCxn id="11" idx="2"/>
                </p:cNvCxnSpPr>
                <p:nvPr/>
              </p:nvCxnSpPr>
              <p:spPr>
                <a:xfrm>
                  <a:off x="3200428" y="4151322"/>
                  <a:ext cx="336302" cy="55927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/>
                <p:cNvCxnSpPr>
                  <a:stCxn id="15" idx="6"/>
                  <a:endCxn id="10" idx="2"/>
                </p:cNvCxnSpPr>
                <p:nvPr/>
              </p:nvCxnSpPr>
              <p:spPr>
                <a:xfrm>
                  <a:off x="3200428" y="4151322"/>
                  <a:ext cx="33410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>
                  <a:stCxn id="15" idx="6"/>
                  <a:endCxn id="9" idx="2"/>
                </p:cNvCxnSpPr>
                <p:nvPr/>
              </p:nvCxnSpPr>
              <p:spPr>
                <a:xfrm flipV="1">
                  <a:off x="3200428" y="3599312"/>
                  <a:ext cx="334109" cy="55201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>
                  <a:stCxn id="7" idx="6"/>
                  <a:endCxn id="11" idx="2"/>
                </p:cNvCxnSpPr>
                <p:nvPr/>
              </p:nvCxnSpPr>
              <p:spPr>
                <a:xfrm>
                  <a:off x="3202621" y="4710601"/>
                  <a:ext cx="33410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>
                  <a:stCxn id="7" idx="6"/>
                  <a:endCxn id="10" idx="2"/>
                </p:cNvCxnSpPr>
                <p:nvPr/>
              </p:nvCxnSpPr>
              <p:spPr>
                <a:xfrm flipV="1">
                  <a:off x="3202621" y="4151322"/>
                  <a:ext cx="331916" cy="55927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>
                  <a:stCxn id="7" idx="6"/>
                  <a:endCxn id="9" idx="2"/>
                </p:cNvCxnSpPr>
                <p:nvPr/>
              </p:nvCxnSpPr>
              <p:spPr>
                <a:xfrm flipV="1">
                  <a:off x="3202621" y="3599312"/>
                  <a:ext cx="331916" cy="111128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2" name="椭圆 21"/>
                <p:cNvSpPr/>
                <p:nvPr/>
              </p:nvSpPr>
              <p:spPr>
                <a:xfrm>
                  <a:off x="4091468" y="4287129"/>
                  <a:ext cx="225015" cy="225015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23" name="直接连接符 22"/>
                <p:cNvCxnSpPr>
                  <a:stCxn id="9" idx="6"/>
                  <a:endCxn id="8" idx="2"/>
                </p:cNvCxnSpPr>
                <p:nvPr/>
              </p:nvCxnSpPr>
              <p:spPr>
                <a:xfrm>
                  <a:off x="3759552" y="3599312"/>
                  <a:ext cx="331915" cy="24468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>
                  <a:stCxn id="9" idx="6"/>
                  <a:endCxn id="22" idx="2"/>
                </p:cNvCxnSpPr>
                <p:nvPr/>
              </p:nvCxnSpPr>
              <p:spPr>
                <a:xfrm>
                  <a:off x="3759552" y="3599312"/>
                  <a:ext cx="331916" cy="80032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>
                  <a:stCxn id="10" idx="6"/>
                  <a:endCxn id="8" idx="2"/>
                </p:cNvCxnSpPr>
                <p:nvPr/>
              </p:nvCxnSpPr>
              <p:spPr>
                <a:xfrm flipV="1">
                  <a:off x="3759552" y="3843993"/>
                  <a:ext cx="331915" cy="30732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>
                  <a:stCxn id="10" idx="6"/>
                  <a:endCxn id="22" idx="2"/>
                </p:cNvCxnSpPr>
                <p:nvPr/>
              </p:nvCxnSpPr>
              <p:spPr>
                <a:xfrm>
                  <a:off x="3759552" y="4151322"/>
                  <a:ext cx="331916" cy="24831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>
                  <a:stCxn id="11" idx="6"/>
                  <a:endCxn id="8" idx="2"/>
                </p:cNvCxnSpPr>
                <p:nvPr/>
              </p:nvCxnSpPr>
              <p:spPr>
                <a:xfrm flipV="1">
                  <a:off x="3761745" y="3843993"/>
                  <a:ext cx="329722" cy="8666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/>
                <p:cNvCxnSpPr>
                  <a:stCxn id="11" idx="6"/>
                  <a:endCxn id="22" idx="2"/>
                </p:cNvCxnSpPr>
                <p:nvPr/>
              </p:nvCxnSpPr>
              <p:spPr>
                <a:xfrm flipV="1">
                  <a:off x="3761745" y="4399637"/>
                  <a:ext cx="329723" cy="31096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" name="组合 28"/>
            <p:cNvGrpSpPr/>
            <p:nvPr/>
          </p:nvGrpSpPr>
          <p:grpSpPr>
            <a:xfrm>
              <a:off x="9411817" y="1130986"/>
              <a:ext cx="1583178" cy="1522969"/>
              <a:chOff x="7814013" y="4137504"/>
              <a:chExt cx="1583178" cy="1522969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7986126" y="4419066"/>
                <a:ext cx="1238952" cy="1241407"/>
                <a:chOff x="2787869" y="3318766"/>
                <a:chExt cx="1689423" cy="1692771"/>
              </a:xfrm>
            </p:grpSpPr>
            <p:sp>
              <p:nvSpPr>
                <p:cNvPr id="32" name="矩形: 圆角 31"/>
                <p:cNvSpPr/>
                <p:nvPr/>
              </p:nvSpPr>
              <p:spPr>
                <a:xfrm>
                  <a:off x="2787869" y="3318766"/>
                  <a:ext cx="1689423" cy="1692771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3" name="椭圆 32"/>
                <p:cNvSpPr/>
                <p:nvPr/>
              </p:nvSpPr>
              <p:spPr>
                <a:xfrm>
                  <a:off x="2975413" y="3486804"/>
                  <a:ext cx="225015" cy="225015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椭圆 33"/>
                <p:cNvSpPr/>
                <p:nvPr/>
              </p:nvSpPr>
              <p:spPr>
                <a:xfrm>
                  <a:off x="2977606" y="4598093"/>
                  <a:ext cx="225015" cy="225015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椭圆 34"/>
                <p:cNvSpPr/>
                <p:nvPr/>
              </p:nvSpPr>
              <p:spPr>
                <a:xfrm>
                  <a:off x="4091467" y="3731485"/>
                  <a:ext cx="225015" cy="225015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>
                  <a:off x="3534537" y="3486804"/>
                  <a:ext cx="225015" cy="225015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>
                  <a:off x="3534537" y="4038814"/>
                  <a:ext cx="225015" cy="225015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椭圆 37"/>
                <p:cNvSpPr/>
                <p:nvPr/>
              </p:nvSpPr>
              <p:spPr>
                <a:xfrm>
                  <a:off x="3536730" y="4598093"/>
                  <a:ext cx="225015" cy="225015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9" name="直接连接符 38"/>
                <p:cNvCxnSpPr>
                  <a:stCxn id="33" idx="6"/>
                  <a:endCxn id="38" idx="2"/>
                </p:cNvCxnSpPr>
                <p:nvPr/>
              </p:nvCxnSpPr>
              <p:spPr>
                <a:xfrm>
                  <a:off x="3200428" y="3599312"/>
                  <a:ext cx="336302" cy="111128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>
                  <a:stCxn id="33" idx="6"/>
                  <a:endCxn id="37" idx="2"/>
                </p:cNvCxnSpPr>
                <p:nvPr/>
              </p:nvCxnSpPr>
              <p:spPr>
                <a:xfrm>
                  <a:off x="3200428" y="3599312"/>
                  <a:ext cx="334109" cy="55201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>
                  <a:stCxn id="33" idx="6"/>
                  <a:endCxn id="36" idx="2"/>
                </p:cNvCxnSpPr>
                <p:nvPr/>
              </p:nvCxnSpPr>
              <p:spPr>
                <a:xfrm>
                  <a:off x="3200428" y="3599312"/>
                  <a:ext cx="33410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2" name="椭圆 41"/>
                <p:cNvSpPr/>
                <p:nvPr/>
              </p:nvSpPr>
              <p:spPr>
                <a:xfrm>
                  <a:off x="2975413" y="4038814"/>
                  <a:ext cx="225015" cy="225015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43" name="直接连接符 42"/>
                <p:cNvCxnSpPr>
                  <a:stCxn id="42" idx="6"/>
                  <a:endCxn id="38" idx="2"/>
                </p:cNvCxnSpPr>
                <p:nvPr/>
              </p:nvCxnSpPr>
              <p:spPr>
                <a:xfrm>
                  <a:off x="3200428" y="4151322"/>
                  <a:ext cx="336302" cy="559279"/>
                </a:xfrm>
                <a:prstGeom prst="line">
                  <a:avLst/>
                </a:prstGeom>
                <a:solidFill>
                  <a:schemeClr val="accent6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>
                  <a:stCxn id="42" idx="6"/>
                  <a:endCxn id="37" idx="2"/>
                </p:cNvCxnSpPr>
                <p:nvPr/>
              </p:nvCxnSpPr>
              <p:spPr>
                <a:xfrm>
                  <a:off x="3200428" y="4151322"/>
                  <a:ext cx="33410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/>
                <p:cNvCxnSpPr>
                  <a:stCxn id="42" idx="6"/>
                  <a:endCxn id="36" idx="2"/>
                </p:cNvCxnSpPr>
                <p:nvPr/>
              </p:nvCxnSpPr>
              <p:spPr>
                <a:xfrm flipV="1">
                  <a:off x="3200428" y="3599312"/>
                  <a:ext cx="334109" cy="55201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连接符 45"/>
                <p:cNvCxnSpPr>
                  <a:stCxn id="34" idx="6"/>
                  <a:endCxn id="38" idx="2"/>
                </p:cNvCxnSpPr>
                <p:nvPr/>
              </p:nvCxnSpPr>
              <p:spPr>
                <a:xfrm>
                  <a:off x="3202621" y="4710601"/>
                  <a:ext cx="33410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/>
                <p:cNvCxnSpPr>
                  <a:stCxn id="34" idx="6"/>
                  <a:endCxn id="37" idx="2"/>
                </p:cNvCxnSpPr>
                <p:nvPr/>
              </p:nvCxnSpPr>
              <p:spPr>
                <a:xfrm flipV="1">
                  <a:off x="3202621" y="4151322"/>
                  <a:ext cx="331916" cy="55927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/>
                <p:cNvCxnSpPr>
                  <a:stCxn id="34" idx="6"/>
                  <a:endCxn id="36" idx="2"/>
                </p:cNvCxnSpPr>
                <p:nvPr/>
              </p:nvCxnSpPr>
              <p:spPr>
                <a:xfrm flipV="1">
                  <a:off x="3202621" y="3599312"/>
                  <a:ext cx="331916" cy="111128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9" name="椭圆 48"/>
                <p:cNvSpPr/>
                <p:nvPr/>
              </p:nvSpPr>
              <p:spPr>
                <a:xfrm>
                  <a:off x="4091468" y="4287129"/>
                  <a:ext cx="225015" cy="225015"/>
                </a:xfrm>
                <a:prstGeom prst="ellipse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50" name="直接连接符 49"/>
                <p:cNvCxnSpPr>
                  <a:stCxn id="36" idx="6"/>
                  <a:endCxn id="35" idx="2"/>
                </p:cNvCxnSpPr>
                <p:nvPr/>
              </p:nvCxnSpPr>
              <p:spPr>
                <a:xfrm>
                  <a:off x="3759552" y="3599312"/>
                  <a:ext cx="331915" cy="24468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连接符 50"/>
                <p:cNvCxnSpPr>
                  <a:stCxn id="36" idx="6"/>
                  <a:endCxn id="49" idx="2"/>
                </p:cNvCxnSpPr>
                <p:nvPr/>
              </p:nvCxnSpPr>
              <p:spPr>
                <a:xfrm>
                  <a:off x="3759552" y="3599312"/>
                  <a:ext cx="331916" cy="80032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 51"/>
                <p:cNvCxnSpPr>
                  <a:stCxn id="37" idx="6"/>
                  <a:endCxn id="35" idx="2"/>
                </p:cNvCxnSpPr>
                <p:nvPr/>
              </p:nvCxnSpPr>
              <p:spPr>
                <a:xfrm flipV="1">
                  <a:off x="3759552" y="3843993"/>
                  <a:ext cx="331915" cy="30732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/>
                <p:cNvCxnSpPr>
                  <a:stCxn id="37" idx="6"/>
                  <a:endCxn id="49" idx="2"/>
                </p:cNvCxnSpPr>
                <p:nvPr/>
              </p:nvCxnSpPr>
              <p:spPr>
                <a:xfrm>
                  <a:off x="3759552" y="4151322"/>
                  <a:ext cx="331916" cy="24831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>
                  <a:stCxn id="38" idx="6"/>
                  <a:endCxn id="35" idx="2"/>
                </p:cNvCxnSpPr>
                <p:nvPr/>
              </p:nvCxnSpPr>
              <p:spPr>
                <a:xfrm flipV="1">
                  <a:off x="3761745" y="3843993"/>
                  <a:ext cx="329722" cy="86660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>
                  <a:stCxn id="38" idx="6"/>
                  <a:endCxn id="49" idx="2"/>
                </p:cNvCxnSpPr>
                <p:nvPr/>
              </p:nvCxnSpPr>
              <p:spPr>
                <a:xfrm flipV="1">
                  <a:off x="3761745" y="4399637"/>
                  <a:ext cx="329723" cy="31096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文本框 30"/>
              <p:cNvSpPr txBox="1"/>
              <p:nvPr/>
            </p:nvSpPr>
            <p:spPr>
              <a:xfrm>
                <a:off x="7814013" y="4137504"/>
                <a:ext cx="15831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b="1" i="1" dirty="0">
                    <a:solidFill>
                      <a:srgbClr val="292929"/>
                    </a:solidFill>
                    <a:latin typeface="Noto Serif" panose="02020600060500020200" pitchFamily="18" charset="0"/>
                  </a:rPr>
                  <a:t>Critic Experts</a:t>
                </a:r>
                <a:endParaRPr lang="en-US" altLang="zh-CN" sz="1100" b="1" i="1" dirty="0">
                  <a:solidFill>
                    <a:srgbClr val="292929"/>
                  </a:solidFill>
                  <a:latin typeface="Noto Serif" panose="02020600060500020200" pitchFamily="18" charset="0"/>
                </a:endParaRPr>
              </a:p>
            </p:txBody>
          </p:sp>
        </p:grpSp>
        <p:sp>
          <p:nvSpPr>
            <p:cNvPr id="1467" name="箭头: 右 1466"/>
            <p:cNvSpPr/>
            <p:nvPr/>
          </p:nvSpPr>
          <p:spPr>
            <a:xfrm rot="5400000">
              <a:off x="10013450" y="2846140"/>
              <a:ext cx="400738" cy="307777"/>
            </a:xfrm>
            <a:prstGeom prst="rightArrow">
              <a:avLst>
                <a:gd name="adj1" fmla="val 39097"/>
                <a:gd name="adj2" fmla="val 53612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68" name="文本框 1467"/>
            <p:cNvSpPr txBox="1"/>
            <p:nvPr/>
          </p:nvSpPr>
          <p:spPr>
            <a:xfrm>
              <a:off x="10136861" y="2824192"/>
              <a:ext cx="92853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Gradient</a:t>
              </a:r>
              <a:endParaRPr lang="zh-CN" altLang="en-US" sz="9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</p:txBody>
        </p:sp>
        <p:sp>
          <p:nvSpPr>
            <p:cNvPr id="1470" name="箭头: 圆角右 1469"/>
            <p:cNvSpPr/>
            <p:nvPr/>
          </p:nvSpPr>
          <p:spPr>
            <a:xfrm rot="5400000">
              <a:off x="10781900" y="4291589"/>
              <a:ext cx="739934" cy="307778"/>
            </a:xfrm>
            <a:prstGeom prst="bentArrow">
              <a:avLst>
                <a:gd name="adj1" fmla="val 41354"/>
                <a:gd name="adj2" fmla="val 36403"/>
                <a:gd name="adj3" fmla="val 35903"/>
                <a:gd name="adj4" fmla="val 82916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474" name="组合 1473"/>
            <p:cNvGrpSpPr/>
            <p:nvPr/>
          </p:nvGrpSpPr>
          <p:grpSpPr>
            <a:xfrm>
              <a:off x="9480444" y="5171327"/>
              <a:ext cx="1467969" cy="372814"/>
              <a:chOff x="8493727" y="5264922"/>
              <a:chExt cx="1467969" cy="372814"/>
            </a:xfrm>
          </p:grpSpPr>
          <p:sp>
            <p:nvSpPr>
              <p:cNvPr id="1472" name="矩形: 圆角 1471"/>
              <p:cNvSpPr/>
              <p:nvPr/>
            </p:nvSpPr>
            <p:spPr>
              <a:xfrm>
                <a:off x="8493727" y="5264922"/>
                <a:ext cx="1467969" cy="372814"/>
              </a:xfrm>
              <a:prstGeom prst="roundRect">
                <a:avLst>
                  <a:gd name="adj" fmla="val 28238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3" name="文本框 1472"/>
              <p:cNvSpPr txBox="1"/>
              <p:nvPr/>
            </p:nvSpPr>
            <p:spPr>
              <a:xfrm>
                <a:off x="8523010" y="5305690"/>
                <a:ext cx="141544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400" b="1" i="1" dirty="0">
                    <a:solidFill>
                      <a:srgbClr val="292929"/>
                    </a:solidFill>
                    <a:latin typeface="Noto Serif" panose="02020600060500020200" pitchFamily="18" charset="0"/>
                  </a:rPr>
                  <a:t>PD controller</a:t>
                </a:r>
                <a:endParaRPr lang="zh-CN" altLang="en-US" sz="1400" b="1" dirty="0"/>
              </a:p>
            </p:txBody>
          </p:sp>
        </p:grpSp>
        <p:sp>
          <p:nvSpPr>
            <p:cNvPr id="1476" name="箭头: 右 1475"/>
            <p:cNvSpPr/>
            <p:nvPr/>
          </p:nvSpPr>
          <p:spPr>
            <a:xfrm rot="10800000">
              <a:off x="7720812" y="5236138"/>
              <a:ext cx="1645710" cy="307777"/>
            </a:xfrm>
            <a:prstGeom prst="rightArrow">
              <a:avLst>
                <a:gd name="adj1" fmla="val 39097"/>
                <a:gd name="adj2" fmla="val 53612"/>
              </a:avLst>
            </a:prstGeom>
            <a:solidFill>
              <a:schemeClr val="bg1">
                <a:lumMod val="85000"/>
              </a:schemeClr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8" name="箭头: 右 57"/>
            <p:cNvSpPr/>
            <p:nvPr/>
          </p:nvSpPr>
          <p:spPr>
            <a:xfrm rot="16200000">
              <a:off x="5617990" y="2272740"/>
              <a:ext cx="258882" cy="307777"/>
            </a:xfrm>
            <a:prstGeom prst="rightArrow">
              <a:avLst>
                <a:gd name="adj1" fmla="val 39097"/>
                <a:gd name="adj2" fmla="val 53612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5526757" y="2699700"/>
              <a:ext cx="474950" cy="1730229"/>
              <a:chOff x="5560412" y="2699700"/>
              <a:chExt cx="474950" cy="1730229"/>
            </a:xfrm>
          </p:grpSpPr>
          <p:sp>
            <p:nvSpPr>
              <p:cNvPr id="1300" name="梯形 1067"/>
              <p:cNvSpPr/>
              <p:nvPr/>
            </p:nvSpPr>
            <p:spPr>
              <a:xfrm rot="5400000">
                <a:off x="4932772" y="3327340"/>
                <a:ext cx="1730229" cy="474950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01" name="文本框 1300"/>
              <p:cNvSpPr txBox="1"/>
              <p:nvPr/>
            </p:nvSpPr>
            <p:spPr>
              <a:xfrm rot="5400000">
                <a:off x="5087543" y="3465728"/>
                <a:ext cx="1535964" cy="202004"/>
              </a:xfrm>
              <a:prstGeom prst="round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Transformer</a:t>
                </a:r>
                <a:endParaRPr lang="zh-CN" altLang="en-US" sz="1400" dirty="0"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p:txBody>
          </p:sp>
        </p:grpSp>
        <p:sp>
          <p:nvSpPr>
            <p:cNvPr id="1330" name="文本框 1329"/>
            <p:cNvSpPr txBox="1"/>
            <p:nvPr/>
          </p:nvSpPr>
          <p:spPr>
            <a:xfrm>
              <a:off x="6811811" y="4482541"/>
              <a:ext cx="4718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…</a:t>
              </a:r>
              <a:endParaRPr lang="en-US" altLang="zh-CN" sz="18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</p:txBody>
        </p:sp>
        <p:sp>
          <p:nvSpPr>
            <p:cNvPr id="1489" name="箭头: 圆角右 1488"/>
            <p:cNvSpPr/>
            <p:nvPr/>
          </p:nvSpPr>
          <p:spPr>
            <a:xfrm rot="5400000" flipH="1" flipV="1">
              <a:off x="6833238" y="4079718"/>
              <a:ext cx="368661" cy="1406486"/>
            </a:xfrm>
            <a:prstGeom prst="bentArrow">
              <a:avLst>
                <a:gd name="adj1" fmla="val 24076"/>
                <a:gd name="adj2" fmla="val 36347"/>
                <a:gd name="adj3" fmla="val 36694"/>
                <a:gd name="adj4" fmla="val 37024"/>
              </a:avLst>
            </a:prstGeom>
            <a:solidFill>
              <a:schemeClr val="accent2"/>
            </a:solidFill>
            <a:ln w="2857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498" name="组合 1497"/>
            <p:cNvGrpSpPr/>
            <p:nvPr/>
          </p:nvGrpSpPr>
          <p:grpSpPr>
            <a:xfrm>
              <a:off x="7820072" y="4531019"/>
              <a:ext cx="835499" cy="471017"/>
              <a:chOff x="7752568" y="4531019"/>
              <a:chExt cx="835499" cy="471017"/>
            </a:xfrm>
          </p:grpSpPr>
          <p:sp>
            <p:nvSpPr>
              <p:cNvPr id="1494" name="矩形: 圆角 1493"/>
              <p:cNvSpPr/>
              <p:nvPr/>
            </p:nvSpPr>
            <p:spPr>
              <a:xfrm>
                <a:off x="7752568" y="4531019"/>
                <a:ext cx="810892" cy="449623"/>
              </a:xfrm>
              <a:prstGeom prst="roundRect">
                <a:avLst>
                  <a:gd name="adj" fmla="val 14273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accent2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95" name="文本框 1494"/>
              <p:cNvSpPr txBox="1"/>
              <p:nvPr/>
            </p:nvSpPr>
            <p:spPr>
              <a:xfrm>
                <a:off x="7785596" y="4540371"/>
                <a:ext cx="80247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150" b="1" i="1" dirty="0">
                    <a:solidFill>
                      <a:srgbClr val="292929"/>
                    </a:solidFill>
                    <a:latin typeface="Noto Serif" panose="02020600060500020200" pitchFamily="18" charset="0"/>
                  </a:rPr>
                  <a:t>Shared</a:t>
                </a:r>
                <a:endParaRPr lang="en-US" altLang="zh-CN" sz="1150" b="1" i="1" dirty="0">
                  <a:solidFill>
                    <a:srgbClr val="292929"/>
                  </a:solidFill>
                  <a:latin typeface="Noto Serif" panose="02020600060500020200" pitchFamily="18" charset="0"/>
                </a:endParaRPr>
              </a:p>
              <a:p>
                <a:pPr algn="ctr"/>
                <a:r>
                  <a:rPr lang="en-US" altLang="zh-CN" sz="1150" b="1" i="1" dirty="0">
                    <a:solidFill>
                      <a:srgbClr val="292929"/>
                    </a:solidFill>
                    <a:latin typeface="Noto Serif" panose="02020600060500020200" pitchFamily="18" charset="0"/>
                  </a:rPr>
                  <a:t>State</a:t>
                </a:r>
                <a:endParaRPr lang="en-US" altLang="zh-CN" sz="1150" b="1" i="1" dirty="0">
                  <a:solidFill>
                    <a:srgbClr val="292929"/>
                  </a:solidFill>
                  <a:latin typeface="Noto Serif" panose="02020600060500020200" pitchFamily="18" charset="0"/>
                </a:endParaRPr>
              </a:p>
            </p:txBody>
          </p:sp>
        </p:grpSp>
        <p:sp>
          <p:nvSpPr>
            <p:cNvPr id="1496" name="箭头: 圆角右 1495"/>
            <p:cNvSpPr/>
            <p:nvPr/>
          </p:nvSpPr>
          <p:spPr>
            <a:xfrm rot="16200000" flipH="1" flipV="1">
              <a:off x="7938835" y="3971258"/>
              <a:ext cx="369330" cy="592137"/>
            </a:xfrm>
            <a:prstGeom prst="bentArrow">
              <a:avLst>
                <a:gd name="adj1" fmla="val 26765"/>
                <a:gd name="adj2" fmla="val 34822"/>
                <a:gd name="adj3" fmla="val 44129"/>
                <a:gd name="adj4" fmla="val 55871"/>
              </a:avLst>
            </a:prstGeom>
            <a:solidFill>
              <a:schemeClr val="accent4"/>
            </a:solidFill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9" name="组合 58"/>
            <p:cNvGrpSpPr/>
            <p:nvPr/>
          </p:nvGrpSpPr>
          <p:grpSpPr>
            <a:xfrm>
              <a:off x="6222124" y="2619135"/>
              <a:ext cx="1651269" cy="1935129"/>
              <a:chOff x="8731170" y="746532"/>
              <a:chExt cx="1651269" cy="1935129"/>
            </a:xfrm>
          </p:grpSpPr>
          <p:sp>
            <p:nvSpPr>
              <p:cNvPr id="61" name="矩形: 圆角 60"/>
              <p:cNvSpPr/>
              <p:nvPr/>
            </p:nvSpPr>
            <p:spPr>
              <a:xfrm>
                <a:off x="8731170" y="746532"/>
                <a:ext cx="1519129" cy="1935129"/>
              </a:xfrm>
              <a:prstGeom prst="roundRect">
                <a:avLst>
                  <a:gd name="adj" fmla="val 8318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62" name="组合 61"/>
              <p:cNvGrpSpPr/>
              <p:nvPr/>
            </p:nvGrpSpPr>
            <p:grpSpPr>
              <a:xfrm>
                <a:off x="9248433" y="1208548"/>
                <a:ext cx="504522" cy="797580"/>
                <a:chOff x="4021147" y="1183701"/>
                <a:chExt cx="594747" cy="940213"/>
              </a:xfrm>
            </p:grpSpPr>
            <p:sp>
              <p:nvSpPr>
                <p:cNvPr id="1381" name="梯形 1380"/>
                <p:cNvSpPr/>
                <p:nvPr/>
              </p:nvSpPr>
              <p:spPr>
                <a:xfrm rot="5400000">
                  <a:off x="3848414" y="1356434"/>
                  <a:ext cx="940213" cy="594747"/>
                </a:xfrm>
                <a:prstGeom prst="trapezoid">
                  <a:avLst>
                    <a:gd name="adj" fmla="val 37839"/>
                  </a:avLst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285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grpSp>
              <p:nvGrpSpPr>
                <p:cNvPr id="1382" name="组合 1381"/>
                <p:cNvGrpSpPr/>
                <p:nvPr/>
              </p:nvGrpSpPr>
              <p:grpSpPr>
                <a:xfrm>
                  <a:off x="4127594" y="1445830"/>
                  <a:ext cx="364618" cy="432551"/>
                  <a:chOff x="4127594" y="1445830"/>
                  <a:chExt cx="364618" cy="432551"/>
                </a:xfrm>
              </p:grpSpPr>
              <p:sp>
                <p:nvSpPr>
                  <p:cNvPr id="1383" name="箭头: 圆角右 1382"/>
                  <p:cNvSpPr/>
                  <p:nvPr/>
                </p:nvSpPr>
                <p:spPr>
                  <a:xfrm>
                    <a:off x="4127594" y="1445830"/>
                    <a:ext cx="243079" cy="263440"/>
                  </a:xfrm>
                  <a:prstGeom prst="bentArrow">
                    <a:avLst>
                      <a:gd name="adj1" fmla="val 25000"/>
                      <a:gd name="adj2" fmla="val 28226"/>
                      <a:gd name="adj3" fmla="val 25000"/>
                      <a:gd name="adj4" fmla="val 77810"/>
                    </a:avLst>
                  </a:prstGeom>
                  <a:solidFill>
                    <a:schemeClr val="accent2"/>
                  </a:solidFill>
                  <a:ln w="28575"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84" name="箭头: 圆角右 1383"/>
                  <p:cNvSpPr/>
                  <p:nvPr/>
                </p:nvSpPr>
                <p:spPr>
                  <a:xfrm rot="10800000">
                    <a:off x="4249133" y="1614941"/>
                    <a:ext cx="243079" cy="263440"/>
                  </a:xfrm>
                  <a:prstGeom prst="bentArrow">
                    <a:avLst>
                      <a:gd name="adj1" fmla="val 25000"/>
                      <a:gd name="adj2" fmla="val 28226"/>
                      <a:gd name="adj3" fmla="val 25000"/>
                      <a:gd name="adj4" fmla="val 77810"/>
                    </a:avLst>
                  </a:prstGeom>
                  <a:solidFill>
                    <a:schemeClr val="accent4"/>
                  </a:solidFill>
                  <a:ln w="28575">
                    <a:solidFill>
                      <a:schemeClr val="accent4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63" name="组合 62"/>
              <p:cNvGrpSpPr/>
              <p:nvPr/>
            </p:nvGrpSpPr>
            <p:grpSpPr>
              <a:xfrm>
                <a:off x="8813032" y="2057600"/>
                <a:ext cx="340678" cy="493671"/>
                <a:chOff x="3309127" y="3318764"/>
                <a:chExt cx="1168167" cy="1692771"/>
              </a:xfrm>
              <a:solidFill>
                <a:schemeClr val="accent6">
                  <a:lumMod val="40000"/>
                  <a:lumOff val="60000"/>
                </a:schemeClr>
              </a:solidFill>
            </p:grpSpPr>
            <p:sp>
              <p:nvSpPr>
                <p:cNvPr id="1363" name="矩形: 圆角 1362"/>
                <p:cNvSpPr/>
                <p:nvPr/>
              </p:nvSpPr>
              <p:spPr>
                <a:xfrm>
                  <a:off x="3309127" y="3318764"/>
                  <a:ext cx="1168167" cy="1692771"/>
                </a:xfrm>
                <a:prstGeom prst="roundRect">
                  <a:avLst/>
                </a:prstGeom>
                <a:solidFill>
                  <a:schemeClr val="accent2"/>
                </a:solidFill>
                <a:ln w="285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4" name="椭圆 1363"/>
                <p:cNvSpPr/>
                <p:nvPr/>
              </p:nvSpPr>
              <p:spPr>
                <a:xfrm>
                  <a:off x="4091467" y="3731485"/>
                  <a:ext cx="225015" cy="225015"/>
                </a:xfrm>
                <a:prstGeom prst="ellipse">
                  <a:avLst/>
                </a:prstGeom>
                <a:solidFill>
                  <a:schemeClr val="accent2"/>
                </a:solidFill>
                <a:ln w="285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5" name="椭圆 1364"/>
                <p:cNvSpPr/>
                <p:nvPr/>
              </p:nvSpPr>
              <p:spPr>
                <a:xfrm>
                  <a:off x="3534537" y="3486804"/>
                  <a:ext cx="225015" cy="225015"/>
                </a:xfrm>
                <a:prstGeom prst="ellipse">
                  <a:avLst/>
                </a:prstGeom>
                <a:solidFill>
                  <a:schemeClr val="accent2"/>
                </a:solidFill>
                <a:ln w="285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6" name="椭圆 1365"/>
                <p:cNvSpPr/>
                <p:nvPr/>
              </p:nvSpPr>
              <p:spPr>
                <a:xfrm>
                  <a:off x="3534537" y="4038814"/>
                  <a:ext cx="225015" cy="225015"/>
                </a:xfrm>
                <a:prstGeom prst="ellipse">
                  <a:avLst/>
                </a:prstGeom>
                <a:solidFill>
                  <a:schemeClr val="accent2"/>
                </a:solidFill>
                <a:ln w="285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7" name="椭圆 1366"/>
                <p:cNvSpPr/>
                <p:nvPr/>
              </p:nvSpPr>
              <p:spPr>
                <a:xfrm>
                  <a:off x="3536730" y="4598093"/>
                  <a:ext cx="225015" cy="225015"/>
                </a:xfrm>
                <a:prstGeom prst="ellipse">
                  <a:avLst/>
                </a:prstGeom>
                <a:solidFill>
                  <a:schemeClr val="accent2"/>
                </a:solidFill>
                <a:ln w="285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8" name="椭圆 1367"/>
                <p:cNvSpPr/>
                <p:nvPr/>
              </p:nvSpPr>
              <p:spPr>
                <a:xfrm>
                  <a:off x="4091468" y="4287129"/>
                  <a:ext cx="225015" cy="225015"/>
                </a:xfrm>
                <a:prstGeom prst="ellipse">
                  <a:avLst/>
                </a:prstGeom>
                <a:solidFill>
                  <a:schemeClr val="accent2"/>
                </a:solidFill>
                <a:ln w="285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369" name="直接连接符 1368"/>
                <p:cNvCxnSpPr>
                  <a:stCxn id="1365" idx="6"/>
                  <a:endCxn id="1364" idx="2"/>
                </p:cNvCxnSpPr>
                <p:nvPr/>
              </p:nvCxnSpPr>
              <p:spPr>
                <a:xfrm>
                  <a:off x="3759552" y="3599312"/>
                  <a:ext cx="331915" cy="244681"/>
                </a:xfrm>
                <a:prstGeom prst="line">
                  <a:avLst/>
                </a:prstGeom>
                <a:solidFill>
                  <a:schemeClr val="accent2"/>
                </a:solidFill>
                <a:ln w="285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70" name="直接连接符 1369"/>
                <p:cNvCxnSpPr>
                  <a:stCxn id="1365" idx="6"/>
                  <a:endCxn id="1368" idx="2"/>
                </p:cNvCxnSpPr>
                <p:nvPr/>
              </p:nvCxnSpPr>
              <p:spPr>
                <a:xfrm>
                  <a:off x="3759552" y="3599312"/>
                  <a:ext cx="331916" cy="800325"/>
                </a:xfrm>
                <a:prstGeom prst="line">
                  <a:avLst/>
                </a:prstGeom>
                <a:solidFill>
                  <a:schemeClr val="accent2"/>
                </a:solidFill>
                <a:ln w="285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73" name="直接连接符 1372"/>
                <p:cNvCxnSpPr>
                  <a:stCxn id="1366" idx="6"/>
                  <a:endCxn id="1364" idx="2"/>
                </p:cNvCxnSpPr>
                <p:nvPr/>
              </p:nvCxnSpPr>
              <p:spPr>
                <a:xfrm flipV="1">
                  <a:off x="3759552" y="3843993"/>
                  <a:ext cx="331915" cy="307329"/>
                </a:xfrm>
                <a:prstGeom prst="line">
                  <a:avLst/>
                </a:prstGeom>
                <a:solidFill>
                  <a:schemeClr val="accent2"/>
                </a:solidFill>
                <a:ln w="285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74" name="直接连接符 1373"/>
                <p:cNvCxnSpPr>
                  <a:stCxn id="1366" idx="6"/>
                  <a:endCxn id="1368" idx="2"/>
                </p:cNvCxnSpPr>
                <p:nvPr/>
              </p:nvCxnSpPr>
              <p:spPr>
                <a:xfrm>
                  <a:off x="3759552" y="4151322"/>
                  <a:ext cx="331916" cy="248315"/>
                </a:xfrm>
                <a:prstGeom prst="line">
                  <a:avLst/>
                </a:prstGeom>
                <a:solidFill>
                  <a:schemeClr val="accent2"/>
                </a:solidFill>
                <a:ln w="285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79" name="直接连接符 1378"/>
                <p:cNvCxnSpPr>
                  <a:stCxn id="1367" idx="6"/>
                  <a:endCxn id="1364" idx="2"/>
                </p:cNvCxnSpPr>
                <p:nvPr/>
              </p:nvCxnSpPr>
              <p:spPr>
                <a:xfrm flipV="1">
                  <a:off x="3761745" y="3843993"/>
                  <a:ext cx="329722" cy="866608"/>
                </a:xfrm>
                <a:prstGeom prst="line">
                  <a:avLst/>
                </a:prstGeom>
                <a:solidFill>
                  <a:schemeClr val="accent2"/>
                </a:solidFill>
                <a:ln w="285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80" name="直接连接符 1379"/>
                <p:cNvCxnSpPr>
                  <a:stCxn id="1367" idx="6"/>
                  <a:endCxn id="1368" idx="2"/>
                </p:cNvCxnSpPr>
                <p:nvPr/>
              </p:nvCxnSpPr>
              <p:spPr>
                <a:xfrm flipV="1">
                  <a:off x="3761745" y="4399637"/>
                  <a:ext cx="329723" cy="310964"/>
                </a:xfrm>
                <a:prstGeom prst="line">
                  <a:avLst/>
                </a:prstGeom>
                <a:solidFill>
                  <a:schemeClr val="accent2"/>
                </a:solidFill>
                <a:ln w="28575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1345" name="组合 1344"/>
              <p:cNvGrpSpPr/>
              <p:nvPr/>
            </p:nvGrpSpPr>
            <p:grpSpPr>
              <a:xfrm>
                <a:off x="9833603" y="2053567"/>
                <a:ext cx="340678" cy="493671"/>
                <a:chOff x="3309127" y="3318764"/>
                <a:chExt cx="1168167" cy="1692771"/>
              </a:xfrm>
              <a:solidFill>
                <a:schemeClr val="accent5">
                  <a:lumMod val="40000"/>
                  <a:lumOff val="60000"/>
                </a:schemeClr>
              </a:solidFill>
            </p:grpSpPr>
            <p:sp>
              <p:nvSpPr>
                <p:cNvPr id="1351" name="矩形: 圆角 1350"/>
                <p:cNvSpPr/>
                <p:nvPr/>
              </p:nvSpPr>
              <p:spPr>
                <a:xfrm>
                  <a:off x="3309127" y="3318764"/>
                  <a:ext cx="1168167" cy="1692771"/>
                </a:xfrm>
                <a:prstGeom prst="roundRect">
                  <a:avLst/>
                </a:prstGeom>
                <a:solidFill>
                  <a:schemeClr val="accent4"/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52" name="椭圆 1351"/>
                <p:cNvSpPr/>
                <p:nvPr/>
              </p:nvSpPr>
              <p:spPr>
                <a:xfrm>
                  <a:off x="4091467" y="3731485"/>
                  <a:ext cx="225015" cy="225015"/>
                </a:xfrm>
                <a:prstGeom prst="ellipse">
                  <a:avLst/>
                </a:prstGeom>
                <a:solidFill>
                  <a:schemeClr val="accent4"/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53" name="椭圆 1352"/>
                <p:cNvSpPr/>
                <p:nvPr/>
              </p:nvSpPr>
              <p:spPr>
                <a:xfrm>
                  <a:off x="3534537" y="3486804"/>
                  <a:ext cx="225015" cy="225015"/>
                </a:xfrm>
                <a:prstGeom prst="ellipse">
                  <a:avLst/>
                </a:prstGeom>
                <a:solidFill>
                  <a:schemeClr val="accent4"/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54" name="椭圆 1353"/>
                <p:cNvSpPr/>
                <p:nvPr/>
              </p:nvSpPr>
              <p:spPr>
                <a:xfrm>
                  <a:off x="3534537" y="4038814"/>
                  <a:ext cx="225015" cy="225015"/>
                </a:xfrm>
                <a:prstGeom prst="ellipse">
                  <a:avLst/>
                </a:prstGeom>
                <a:solidFill>
                  <a:schemeClr val="accent4"/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55" name="椭圆 1354"/>
                <p:cNvSpPr/>
                <p:nvPr/>
              </p:nvSpPr>
              <p:spPr>
                <a:xfrm>
                  <a:off x="3536730" y="4598093"/>
                  <a:ext cx="225015" cy="225015"/>
                </a:xfrm>
                <a:prstGeom prst="ellipse">
                  <a:avLst/>
                </a:prstGeom>
                <a:solidFill>
                  <a:schemeClr val="accent4"/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56" name="椭圆 1355"/>
                <p:cNvSpPr/>
                <p:nvPr/>
              </p:nvSpPr>
              <p:spPr>
                <a:xfrm>
                  <a:off x="4091468" y="4287129"/>
                  <a:ext cx="225015" cy="225015"/>
                </a:xfrm>
                <a:prstGeom prst="ellipse">
                  <a:avLst/>
                </a:prstGeom>
                <a:solidFill>
                  <a:schemeClr val="accent4"/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357" name="直接连接符 1356"/>
                <p:cNvCxnSpPr>
                  <a:stCxn id="1353" idx="6"/>
                  <a:endCxn id="1352" idx="2"/>
                </p:cNvCxnSpPr>
                <p:nvPr/>
              </p:nvCxnSpPr>
              <p:spPr>
                <a:xfrm>
                  <a:off x="3759552" y="3599312"/>
                  <a:ext cx="331915" cy="244681"/>
                </a:xfrm>
                <a:prstGeom prst="line">
                  <a:avLst/>
                </a:prstGeom>
                <a:solidFill>
                  <a:schemeClr val="accent4"/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58" name="直接连接符 1357"/>
                <p:cNvCxnSpPr>
                  <a:stCxn id="1353" idx="6"/>
                  <a:endCxn id="1356" idx="2"/>
                </p:cNvCxnSpPr>
                <p:nvPr/>
              </p:nvCxnSpPr>
              <p:spPr>
                <a:xfrm>
                  <a:off x="3759552" y="3599312"/>
                  <a:ext cx="331916" cy="800325"/>
                </a:xfrm>
                <a:prstGeom prst="line">
                  <a:avLst/>
                </a:prstGeom>
                <a:solidFill>
                  <a:schemeClr val="accent4"/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59" name="直接连接符 1358"/>
                <p:cNvCxnSpPr>
                  <a:stCxn id="1354" idx="6"/>
                  <a:endCxn id="1352" idx="2"/>
                </p:cNvCxnSpPr>
                <p:nvPr/>
              </p:nvCxnSpPr>
              <p:spPr>
                <a:xfrm flipV="1">
                  <a:off x="3759552" y="3843993"/>
                  <a:ext cx="331915" cy="307329"/>
                </a:xfrm>
                <a:prstGeom prst="line">
                  <a:avLst/>
                </a:prstGeom>
                <a:solidFill>
                  <a:schemeClr val="accent4"/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60" name="直接连接符 1359"/>
                <p:cNvCxnSpPr>
                  <a:stCxn id="1354" idx="6"/>
                  <a:endCxn id="1356" idx="2"/>
                </p:cNvCxnSpPr>
                <p:nvPr/>
              </p:nvCxnSpPr>
              <p:spPr>
                <a:xfrm>
                  <a:off x="3759552" y="4151322"/>
                  <a:ext cx="331916" cy="248315"/>
                </a:xfrm>
                <a:prstGeom prst="line">
                  <a:avLst/>
                </a:prstGeom>
                <a:solidFill>
                  <a:schemeClr val="accent4"/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61" name="直接连接符 1360"/>
                <p:cNvCxnSpPr>
                  <a:stCxn id="1355" idx="6"/>
                  <a:endCxn id="1352" idx="2"/>
                </p:cNvCxnSpPr>
                <p:nvPr/>
              </p:nvCxnSpPr>
              <p:spPr>
                <a:xfrm flipV="1">
                  <a:off x="3761745" y="3843993"/>
                  <a:ext cx="329722" cy="866608"/>
                </a:xfrm>
                <a:prstGeom prst="line">
                  <a:avLst/>
                </a:prstGeom>
                <a:solidFill>
                  <a:schemeClr val="accent4"/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62" name="直接连接符 1361"/>
                <p:cNvCxnSpPr>
                  <a:stCxn id="1355" idx="6"/>
                  <a:endCxn id="1356" idx="2"/>
                </p:cNvCxnSpPr>
                <p:nvPr/>
              </p:nvCxnSpPr>
              <p:spPr>
                <a:xfrm flipV="1">
                  <a:off x="3761745" y="4399637"/>
                  <a:ext cx="329723" cy="310964"/>
                </a:xfrm>
                <a:prstGeom prst="line">
                  <a:avLst/>
                </a:prstGeom>
                <a:solidFill>
                  <a:schemeClr val="accent4"/>
                </a:solidFill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346" name="箭头: 圆角右 1345"/>
              <p:cNvSpPr/>
              <p:nvPr/>
            </p:nvSpPr>
            <p:spPr>
              <a:xfrm rot="16200000" flipH="1" flipV="1">
                <a:off x="9842653" y="1684888"/>
                <a:ext cx="293673" cy="296108"/>
              </a:xfrm>
              <a:prstGeom prst="bentArrow">
                <a:avLst>
                  <a:gd name="adj1" fmla="val 25000"/>
                  <a:gd name="adj2" fmla="val 28226"/>
                  <a:gd name="adj3" fmla="val 25000"/>
                  <a:gd name="adj4" fmla="val 66562"/>
                </a:avLst>
              </a:prstGeom>
              <a:solidFill>
                <a:schemeClr val="accent4"/>
              </a:solidFill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47" name="箭头: 右 1346"/>
              <p:cNvSpPr/>
              <p:nvPr/>
            </p:nvSpPr>
            <p:spPr>
              <a:xfrm>
                <a:off x="9833603" y="1382310"/>
                <a:ext cx="340678" cy="201363"/>
              </a:xfrm>
              <a:prstGeom prst="rightArrow">
                <a:avLst>
                  <a:gd name="adj1" fmla="val 39097"/>
                  <a:gd name="adj2" fmla="val 53612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8" name="箭头: 右 1347"/>
              <p:cNvSpPr/>
              <p:nvPr/>
            </p:nvSpPr>
            <p:spPr>
              <a:xfrm>
                <a:off x="8834116" y="1382310"/>
                <a:ext cx="340678" cy="201363"/>
              </a:xfrm>
              <a:prstGeom prst="rightArrow">
                <a:avLst>
                  <a:gd name="adj1" fmla="val 39097"/>
                  <a:gd name="adj2" fmla="val 4528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49" name="箭头: 圆角右 1348"/>
              <p:cNvSpPr/>
              <p:nvPr/>
            </p:nvSpPr>
            <p:spPr>
              <a:xfrm rot="10800000" flipH="1" flipV="1">
                <a:off x="8839026" y="1686105"/>
                <a:ext cx="335768" cy="296108"/>
              </a:xfrm>
              <a:prstGeom prst="bentArrow">
                <a:avLst>
                  <a:gd name="adj1" fmla="val 25000"/>
                  <a:gd name="adj2" fmla="val 28226"/>
                  <a:gd name="adj3" fmla="val 30666"/>
                  <a:gd name="adj4" fmla="val 66562"/>
                </a:avLst>
              </a:prstGeom>
              <a:solidFill>
                <a:schemeClr val="accent2"/>
              </a:solidFill>
              <a:ln w="28575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50" name="文本框 1349"/>
              <p:cNvSpPr txBox="1"/>
              <p:nvPr/>
            </p:nvSpPr>
            <p:spPr>
              <a:xfrm>
                <a:off x="8731290" y="798165"/>
                <a:ext cx="165114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950" b="1" i="1" dirty="0">
                    <a:solidFill>
                      <a:srgbClr val="292929"/>
                    </a:solidFill>
                    <a:latin typeface="Noto Serif" panose="02020600060500020200" pitchFamily="18" charset="0"/>
                  </a:rPr>
                  <a:t>Read/Write</a:t>
                </a:r>
                <a:endParaRPr lang="en-US" altLang="zh-CN" sz="950" b="1" i="1" dirty="0">
                  <a:solidFill>
                    <a:srgbClr val="292929"/>
                  </a:solidFill>
                  <a:latin typeface="Noto Serif" panose="02020600060500020200" pitchFamily="18" charset="0"/>
                </a:endParaRPr>
              </a:p>
              <a:p>
                <a:pPr algn="ctr"/>
                <a:r>
                  <a:rPr lang="en-US" altLang="zh-CN" sz="950" b="1" i="1" dirty="0">
                    <a:solidFill>
                      <a:srgbClr val="292929"/>
                    </a:solidFill>
                    <a:latin typeface="Noto Serif" panose="02020600060500020200" pitchFamily="18" charset="0"/>
                  </a:rPr>
                  <a:t>Experts x3</a:t>
                </a:r>
                <a:endParaRPr lang="en-US" altLang="zh-CN" sz="950" b="1" i="1" dirty="0">
                  <a:solidFill>
                    <a:srgbClr val="292929"/>
                  </a:solidFill>
                  <a:latin typeface="Noto Serif" panose="02020600060500020200" pitchFamily="18" charset="0"/>
                </a:endParaRPr>
              </a:p>
            </p:txBody>
          </p:sp>
        </p:grpSp>
        <p:sp>
          <p:nvSpPr>
            <p:cNvPr id="2001" name="Active Token Sampler"/>
            <p:cNvSpPr txBox="1"/>
            <p:nvPr/>
          </p:nvSpPr>
          <p:spPr>
            <a:xfrm>
              <a:off x="3840480" y="3621024"/>
              <a:ext cx="786384" cy="292608"/>
            </a:xfrm>
            <a:prstGeom prst="roundRect">
              <a:avLst>
                <a:gd name="adj" fmla="val 16667"/>
              </a:avLst>
            </a:prstGeom>
            <a:solidFill>
              <a:srgbClr val="E2F0D9"/>
            </a:solidFill>
            <a:ln w="12700">
              <a:solidFill>
                <a:srgbClr val="2F5233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52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Active Token</a:t>
              </a:r>
              <a:endParaRPr lang="zh-CN" altLang="en-US" sz="52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  <a:p>
              <a:pPr algn="ctr"/>
              <a:r>
                <a:rPr lang="en-US" altLang="zh-CN" sz="52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Sampler x16</a:t>
              </a:r>
              <a:endParaRPr lang="zh-CN" altLang="en-US" sz="52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</p:txBody>
        </p:sp>
        <p:sp>
          <p:nvSpPr>
            <p:cNvPr id="2002" name="Terrain Selector Head"/>
            <p:cNvSpPr txBox="1"/>
            <p:nvPr/>
          </p:nvSpPr>
          <p:spPr>
            <a:xfrm>
              <a:off x="5724144" y="2331720"/>
              <a:ext cx="685800" cy="219456"/>
            </a:xfrm>
            <a:prstGeom prst="roundRect">
              <a:avLst>
                <a:gd name="adj" fmla="val 16667"/>
              </a:avLst>
            </a:prstGeom>
            <a:solidFill>
              <a:srgbClr val="E2F0D9"/>
            </a:solidFill>
            <a:ln w="12700">
              <a:solidFill>
                <a:srgbClr val="2F5233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5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Terrain Head</a:t>
              </a:r>
              <a:endParaRPr lang="zh-CN" altLang="en-US" sz="5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  <a:p>
              <a:pPr algn="ctr"/>
              <a:r>
                <a:rPr lang="en-US" altLang="zh-CN" sz="5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12 classes</a:t>
              </a:r>
              <a:endParaRPr lang="zh-CN" altLang="en-US" sz="5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</p:txBody>
        </p:sp>
        <p:sp>
          <p:nvSpPr>
            <p:cNvPr id="2003" name="Fall Recovery Head"/>
            <p:cNvSpPr txBox="1"/>
            <p:nvPr/>
          </p:nvSpPr>
          <p:spPr>
            <a:xfrm>
              <a:off x="6428232" y="2331720"/>
              <a:ext cx="585216" cy="219456"/>
            </a:xfrm>
            <a:prstGeom prst="roundRect">
              <a:avLst>
                <a:gd name="adj" fmla="val 16667"/>
              </a:avLst>
            </a:prstGeom>
            <a:solidFill>
              <a:srgbClr val="FCE4D6"/>
            </a:solidFill>
            <a:ln w="12700">
              <a:solidFill>
                <a:srgbClr val="9E480E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54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Fall Head</a:t>
              </a:r>
              <a:endParaRPr lang="zh-CN" altLang="en-US" sz="54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</p:txBody>
        </p:sp>
        <p:sp>
          <p:nvSpPr>
            <p:cNvPr id="2004" name="Router Inputs"/>
            <p:cNvSpPr txBox="1"/>
            <p:nvPr/>
          </p:nvSpPr>
          <p:spPr>
            <a:xfrm>
              <a:off x="5596128" y="1947672"/>
              <a:ext cx="950976" cy="246888"/>
            </a:xfrm>
            <a:prstGeom prst="roundRect">
              <a:avLst>
                <a:gd name="adj" fmla="val 16667"/>
              </a:avLst>
            </a:prstGeom>
            <a:solidFill>
              <a:srgbClr val="FFF2CC"/>
            </a:solidFill>
            <a:ln w="12700">
              <a:solidFill>
                <a:srgbClr val="8A6D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5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obs + vision</a:t>
              </a:r>
              <a:endParaRPr lang="zh-CN" altLang="en-US" sz="5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  <a:p>
              <a:pPr algn="ctr"/>
              <a:r>
                <a:rPr lang="en-US" altLang="zh-CN" sz="5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+ terrain + fall</a:t>
              </a:r>
              <a:endParaRPr lang="zh-CN" altLang="en-US" sz="5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</p:txBody>
        </p:sp>
        <p:sp>
          <p:nvSpPr>
            <p:cNvPr id="2005" name="Motion GRU"/>
            <p:cNvSpPr txBox="1"/>
            <p:nvPr/>
          </p:nvSpPr>
          <p:spPr>
            <a:xfrm>
              <a:off x="5212080" y="2862072"/>
              <a:ext cx="658368" cy="219456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 w="12700">
              <a:solidFill>
                <a:srgbClr val="2F5233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56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Motion GRU</a:t>
              </a:r>
              <a:endParaRPr lang="zh-CN" altLang="en-US" sz="56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</p:txBody>
        </p:sp>
        <p:sp>
          <p:nvSpPr>
            <p:cNvPr id="2006" name="MCP Code"/>
            <p:cNvSpPr txBox="1"/>
            <p:nvPr/>
          </p:nvSpPr>
          <p:spPr>
            <a:xfrm>
              <a:off x="7918704" y="2944368"/>
              <a:ext cx="749808" cy="301752"/>
            </a:xfrm>
            <a:prstGeom prst="roundRect">
              <a:avLst>
                <a:gd name="adj" fmla="val 16667"/>
              </a:avLst>
            </a:prstGeom>
            <a:solidFill>
              <a:srgbClr val="D9EAF7"/>
            </a:solidFill>
            <a:ln w="12700">
              <a:solidFill>
                <a:srgbClr val="2F5597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52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mcp_code 68</a:t>
              </a:r>
              <a:endParaRPr lang="zh-CN" altLang="en-US" sz="52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  <a:p>
              <a:pPr algn="ctr"/>
              <a:r>
                <a:rPr lang="en-US" altLang="zh-CN" sz="52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+ vision flag</a:t>
              </a:r>
              <a:endParaRPr lang="zh-CN" altLang="en-US" sz="52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</p:txBody>
        </p:sp>
        <p:sp>
          <p:nvSpPr>
            <p:cNvPr id="2007" name="Critic Privileged Obs"/>
            <p:cNvSpPr txBox="1"/>
            <p:nvPr/>
          </p:nvSpPr>
          <p:spPr>
            <a:xfrm>
              <a:off x="7059168" y="1371600"/>
              <a:ext cx="9509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5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critic: privileged obs 269</a:t>
              </a:r>
              <a:endParaRPr lang="zh-CN" altLang="en-US" sz="5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  <a:p>
              <a:pPr algn="ctr"/>
              <a:r>
                <a:rPr lang="en-US" altLang="zh-CN" sz="5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+ vision flag</a:t>
              </a:r>
              <a:endParaRPr lang="zh-CN" altLang="en-US" sz="5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</p:txBody>
        </p:sp>
        <p:sp>
          <p:nvSpPr>
            <p:cNvPr id="2008" name="Actor Input Note"/>
            <p:cNvSpPr txBox="1"/>
            <p:nvPr/>
          </p:nvSpPr>
          <p:spPr>
            <a:xfrm>
              <a:off x="7726680" y="3877056"/>
              <a:ext cx="841248" cy="237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500" b="1" i="1" dirty="0">
                  <a:solidFill>
                    <a:srgbClr val="292929"/>
                  </a:solidFill>
                  <a:latin typeface="Noto Serif" panose="02020600060500020200" pitchFamily="18" charset="0"/>
                </a:rPr>
                <a:t>actor: mcp + obs_now</a:t>
              </a:r>
              <a:endParaRPr lang="zh-CN" altLang="en-US" sz="500" b="1" i="1" dirty="0">
                <a:solidFill>
                  <a:srgbClr val="292929"/>
                </a:solidFill>
                <a:latin typeface="Noto Serif" panose="02020600060500020200" pitchFamily="18" charset="0"/>
              </a:endParaRPr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新模板-502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五院</Template>
  <TotalTime>0</TotalTime>
  <Words>414</Words>
  <Application>WPS 演示</Application>
  <PresentationFormat>宽屏</PresentationFormat>
  <Paragraphs>87</Paragraphs>
  <Slides>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3" baseType="lpstr">
      <vt:lpstr>Arial</vt:lpstr>
      <vt:lpstr>宋体</vt:lpstr>
      <vt:lpstr>Wingdings</vt:lpstr>
      <vt:lpstr>DejaVu Sans</vt:lpstr>
      <vt:lpstr>Noto Serif CJK SC</vt:lpstr>
      <vt:lpstr>微软雅黑</vt:lpstr>
      <vt:lpstr>文泉驿正黑</vt:lpstr>
      <vt:lpstr>Impact</vt:lpstr>
      <vt:lpstr>Segoe UI Black</vt:lpstr>
      <vt:lpstr>Cambria Math</vt:lpstr>
      <vt:lpstr>Noto Serif</vt:lpstr>
      <vt:lpstr>Noto Sans</vt:lpstr>
      <vt:lpstr>Garuda</vt:lpstr>
      <vt:lpstr>Rasa Medium</vt:lpstr>
      <vt:lpstr>Calibri</vt:lpstr>
      <vt:lpstr>宋体</vt:lpstr>
      <vt:lpstr>Arial Unicode MS</vt:lpstr>
      <vt:lpstr>等线</vt:lpstr>
      <vt:lpstr>Gubbi</vt:lpstr>
      <vt:lpstr>DejaVu Math TeX Gyre</vt:lpstr>
      <vt:lpstr>Noto Sans Mono</vt:lpstr>
      <vt:lpstr>1_新模板-502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王勇4</dc:creator>
  <cp:lastModifiedBy>kemove</cp:lastModifiedBy>
  <cp:revision>3032</cp:revision>
  <dcterms:created xsi:type="dcterms:W3CDTF">2026-05-27T07:01:47Z</dcterms:created>
  <dcterms:modified xsi:type="dcterms:W3CDTF">2026-05-27T07:01:47Z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2052-12.1.2.22571</vt:lpwstr>
  </property>
  <property fmtid="{D5CDD505-2E9C-101B-9397-08002B2CF9AE}" pid="3" name="ICV">
    <vt:lpwstr>FAA556BA2F234531B20714A197785462_13</vt:lpwstr>
  </property>
</Properties>
</file>